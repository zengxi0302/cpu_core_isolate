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8B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HUAWEI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CPU 核心故障自隔离（CFI）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Microsoft YaHei"/>
              </a:rPr>
              <a:t>硬件老化时代的云服务高可用保障方案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33333"/>
                </a:solidFill>
                <a:latin typeface="Microsoft YaHei"/>
              </a:rPr>
              <a:t>面向服役 5 年 + / 7 年 + 的存量计算节点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33333"/>
                </a:solidFill>
                <a:latin typeface="Microsoft YaHei"/>
              </a:rPr>
              <a:t>让单核硬件故障不再拖垮整机，守住 ECS SLA 承诺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731520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33333"/>
                </a:solidFill>
                <a:latin typeface="Microsoft YaHei"/>
              </a:rPr>
              <a:t>华为云  ·  基础设施  ·  弹性计算（ECS）可靠性专项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4015" y="5989320"/>
            <a:ext cx="365760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Microsoft YaHei"/>
              </a:rPr>
              <a:t>版本 v0.2  |  2026-06</a:t>
            </a:r>
          </a:p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Microsoft YaHei"/>
              </a:rPr>
              <a:t>华为机密 Huawei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" cy="4114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960120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Microsoft YaHei"/>
              </a:rPr>
              <a:t>汇报内容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9728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70039"/>
                </a:solidFill>
                <a:latin typeface="Microsoft YaHe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554480"/>
            <a:ext cx="25400" cy="8686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1508760"/>
            <a:ext cx="40233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1A"/>
                </a:solidFill>
                <a:latin typeface="Microsoft YaHei"/>
              </a:rPr>
              <a:t>背景与挑战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029968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Microsoft YaHei"/>
              </a:rPr>
              <a:t>硬件老化带来的可靠性风险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109728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70039"/>
                </a:solidFill>
                <a:latin typeface="Microsoft YaHe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554480"/>
            <a:ext cx="25400" cy="8686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508760"/>
            <a:ext cx="40233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1A"/>
                </a:solidFill>
                <a:latin typeface="Microsoft YaHei"/>
              </a:rPr>
              <a:t>问题分析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029968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Microsoft YaHei"/>
              </a:rPr>
              <a:t>为什么单核故障会拖垮整机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109728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70039"/>
                </a:solidFill>
                <a:latin typeface="Microsoft YaHei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3063240"/>
            <a:ext cx="25400" cy="8686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3017520"/>
            <a:ext cx="40233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1A"/>
                </a:solidFill>
                <a:latin typeface="Microsoft YaHei"/>
              </a:rPr>
              <a:t>解决方案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538728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Microsoft YaHei"/>
              </a:rPr>
              <a:t>CPU 故障自隔离三层防御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80360"/>
            <a:ext cx="109728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70039"/>
                </a:solidFill>
                <a:latin typeface="Microsoft YaHei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3063240"/>
            <a:ext cx="25400" cy="8686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3017520"/>
            <a:ext cx="40233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1A"/>
                </a:solidFill>
                <a:latin typeface="Microsoft YaHei"/>
              </a:rPr>
              <a:t>技术实现 / 深潜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538728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Microsoft YaHei"/>
              </a:rPr>
              <a:t>关键技术与八大攻坚点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89120"/>
            <a:ext cx="109728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70039"/>
                </a:solidFill>
                <a:latin typeface="Microsoft YaHei"/>
              </a:rP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4572000"/>
            <a:ext cx="25400" cy="8686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4526280"/>
            <a:ext cx="40233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1A"/>
                </a:solidFill>
                <a:latin typeface="Microsoft YaHei"/>
              </a:rPr>
              <a:t>业务价值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047488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Microsoft YaHei"/>
              </a:rPr>
              <a:t>SLA 保障与 ROI 量化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89120"/>
            <a:ext cx="109728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C70039"/>
                </a:solidFill>
                <a:latin typeface="Microsoft YaHei"/>
              </a:rPr>
              <a:t>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4572000"/>
            <a:ext cx="25400" cy="8686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4526280"/>
            <a:ext cx="402336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1A"/>
                </a:solidFill>
                <a:latin typeface="Microsoft YaHei"/>
              </a:rPr>
              <a:t>进展与规划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5047488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Microsoft YaHei"/>
              </a:rPr>
              <a:t>当前状态与落地路线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" cy="4114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960120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Microsoft YaHei"/>
              </a:rPr>
              <a:t>背景：硬件服役年限拉长，故障率持续攀升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27432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C70039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333333"/>
                </a:solidFill>
                <a:latin typeface="Microsoft YaHei"/>
              </a:rPr>
              <a:t>随着数据中心存量服务器进入 5 年 + / 7 年 + 服役期，CPU、Cache 等核心器件进入故障高发期。硬件故障已从「小概率事件」变为「必然发生的常态」。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34290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3429000" cy="54864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84831"/>
            <a:ext cx="3429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0–3 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3429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05A9E"/>
                </a:solidFill>
                <a:latin typeface="Microsoft YaHei"/>
              </a:rPr>
              <a:t>磨合期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3063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故障率低而平稳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器件处于稳定服役阶段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34290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057400"/>
            <a:ext cx="3429000" cy="548640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084831"/>
            <a:ext cx="3429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3–5 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97480"/>
            <a:ext cx="3429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E88A00"/>
                </a:solidFill>
                <a:latin typeface="Microsoft YaHei"/>
              </a:rPr>
              <a:t>稳定期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54680"/>
            <a:ext cx="3063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故障率缓慢上升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开始出现偶发 Cache 错误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2057400"/>
            <a:ext cx="342900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2057400"/>
            <a:ext cx="3429000" cy="54864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2084831"/>
            <a:ext cx="3429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5 年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697480"/>
            <a:ext cx="3429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C70039"/>
                </a:solidFill>
                <a:latin typeface="Microsoft YaHei"/>
              </a:rPr>
              <a:t>老化期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154680"/>
            <a:ext cx="30632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故障率显著抬升</a:t>
            </a:r>
          </a:p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UCE / 锁核事件成倍增加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206240"/>
            <a:ext cx="1078992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206240"/>
            <a:ext cx="109728" cy="137160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343400"/>
            <a:ext cx="1024128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70039"/>
                </a:solidFill>
                <a:latin typeface="Microsoft YaHei"/>
              </a:rPr>
              <a:t>核心矛盾：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一颗 CPU 核心的硬件故障，按现有内核机制会触发整机 panic 宕机，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333333"/>
                </a:solidFill>
                <a:latin typeface="Microsoft YaHei"/>
              </a:rPr>
              <a:t>牵连该宿主机上承载的全部 </a:t>
            </a:r>
            <a:r>
              <a:rPr sz="1500" b="1">
                <a:solidFill>
                  <a:srgbClr val="C70039"/>
                </a:solidFill>
                <a:latin typeface="Microsoft YaHei"/>
              </a:rPr>
              <a:t>50~100+ 台 ECS 实例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，造成大规模服务中断与 SLA 违约。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666666"/>
                </a:solidFill>
                <a:latin typeface="Microsoft YaHei"/>
              </a:rPr>
              <a:t>硬件越老，这种「一核坏、全机停」的事件越频繁，风险敞口持续放大。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" cy="4114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960120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Microsoft YaHei"/>
              </a:rPr>
              <a:t>问题分析：为什么单核故障会拖垮整机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27432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C70039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</a:rPr>
              <a:t>根因在于内核 MCE（Machine Check Exception）处理流程的时序：致命错误在「分发到处理链」之前就已触发 panic。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393192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93192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333333"/>
                </a:solidFill>
                <a:latin typeface="Microsoft YaHei"/>
              </a:rPr>
              <a:t>CPU Cache 发生 UCE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333333"/>
                </a:solidFill>
                <a:latin typeface="Microsoft YaHei"/>
              </a:rPr>
              <a:t>（不可纠正错误）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496312"/>
            <a:ext cx="5486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Microsoft YaHei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97480"/>
            <a:ext cx="393192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005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393192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333333"/>
                </a:solidFill>
                <a:latin typeface="Microsoft YaHei"/>
              </a:rPr>
              <a:t>do_machine_check()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333333"/>
                </a:solidFill>
                <a:latin typeface="Microsoft YaHei"/>
              </a:rPr>
              <a:t>评估错误严重性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410712"/>
            <a:ext cx="54864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Microsoft YaHe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11880"/>
            <a:ext cx="3931920" cy="713232"/>
          </a:xfrm>
          <a:prstGeom prst="rect">
            <a:avLst/>
          </a:prstGeom>
          <a:solidFill>
            <a:srgbClr val="FFFFFF"/>
          </a:solidFill>
          <a:ln w="25400">
            <a:solidFill>
              <a:srgbClr val="E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393192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333333"/>
                </a:solidFill>
                <a:latin typeface="Microsoft YaHei"/>
              </a:rPr>
              <a:t>严重性 = 致命？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526280"/>
            <a:ext cx="3931920" cy="8686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393192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是 → mce_panic() → 整机宕机</a:t>
            </a:r>
          </a:p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全部 ECS 丢失  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783080"/>
            <a:ext cx="5943600" cy="42976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1965960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70039"/>
                </a:solidFill>
                <a:latin typeface="Microsoft YaHei"/>
              </a:rPr>
              <a:t>关键洞察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2468880"/>
            <a:ext cx="54864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70039"/>
                </a:solidFill>
                <a:latin typeface="Microsoft YaHei"/>
              </a:rPr>
              <a:t>① </a:t>
            </a:r>
            <a:r>
              <a:rPr sz="1400" b="0">
                <a:solidFill>
                  <a:srgbClr val="333333"/>
                </a:solidFill>
                <a:latin typeface="Microsoft YaHei"/>
              </a:rPr>
              <a:t>致命 MCE 在第 2 步就调用 mce_panic()，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icrosoft YaHei"/>
              </a:rPr>
              <a:t>    系统直接死亡，</a:t>
            </a:r>
            <a:r>
              <a:rPr sz="1400" b="1">
                <a:solidFill>
                  <a:srgbClr val="C70039"/>
                </a:solidFill>
                <a:latin typeface="Microsoft YaHei"/>
              </a:rPr>
              <a:t>根本走不到错误处理链。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C70039"/>
                </a:solidFill>
                <a:latin typeface="Microsoft YaHei"/>
              </a:rPr>
              <a:t>② </a:t>
            </a:r>
            <a:r>
              <a:rPr sz="1400" b="0">
                <a:solidFill>
                  <a:srgbClr val="333333"/>
                </a:solidFill>
                <a:latin typeface="Microsoft YaHei"/>
              </a:rPr>
              <a:t>常规的 MCE 处理链注册（decode chain）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icrosoft YaHei"/>
              </a:rPr>
              <a:t>    在 panic 之后才执行，</a:t>
            </a:r>
            <a:r>
              <a:rPr sz="1400" b="1">
                <a:solidFill>
                  <a:srgbClr val="C70039"/>
                </a:solidFill>
                <a:latin typeface="Microsoft YaHei"/>
              </a:rPr>
              <a:t>时机太晚。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C70039"/>
                </a:solidFill>
                <a:latin typeface="Microsoft YaHei"/>
              </a:rPr>
              <a:t>③ </a:t>
            </a:r>
            <a:r>
              <a:rPr sz="1400" b="0">
                <a:solidFill>
                  <a:srgbClr val="333333"/>
                </a:solidFill>
                <a:latin typeface="Microsoft YaHei"/>
              </a:rPr>
              <a:t>硬锁 / 软锁同理：内核 watchdog 直接 panic，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icrosoft YaHei"/>
              </a:rPr>
              <a:t>    不给隔离单核的机会。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D32"/>
                </a:solidFill>
                <a:latin typeface="Microsoft YaHei"/>
              </a:rPr>
              <a:t>➜ 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必须在 panic「发生之前」就拦截，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    并把故障范围收敛到单个 CPU 核心。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" cy="4114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960120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Microsoft YaHei"/>
              </a:rPr>
              <a:t>解决方案：CPU 故障自隔离三层防御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27432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C70039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107899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333333"/>
                </a:solidFill>
                <a:latin typeface="Microsoft YaHei"/>
              </a:rPr>
              <a:t>以内核模块（cpu_fault_isolate.ko）形式交付，不修改内核源码，即插即用。通过「拦截 → 检测 → 隔离」三层协同，把整机故障收敛为单核隔离。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3429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3429000" cy="6400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47088"/>
            <a:ext cx="34290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第一层  ·  拦截 Panic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30632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C70039"/>
                </a:solidFill>
                <a:latin typeface="Microsoft YaHei"/>
              </a:rPr>
              <a:t>在故障触发宕机之前抢先拦截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301752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• 提升 MCE tolerant 等级，阻止 mce_panic()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• 关闭 softlockup / hardlockup 自动 panic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• 兼容 HCE3：内核变量直写 + 符号探测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2" y="3246120"/>
            <a:ext cx="2743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D9D9D9"/>
                </a:solidFill>
                <a:latin typeface="Microsoft YaHe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3429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828800"/>
            <a:ext cx="3429000" cy="64008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847088"/>
            <a:ext cx="34290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第二层  ·  检测故障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06040"/>
            <a:ext cx="30632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005A9E"/>
                </a:solidFill>
                <a:latin typeface="Microsoft YaHei"/>
              </a:rPr>
              <a:t>全量捕获 CPU/Cache 硬件错误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200400"/>
            <a:ext cx="301752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• x86 MCE 处理链 + 华为 FMA 框架钩子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• 鲲鹏 GHES / APEI 错误上报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• 自建心跳检测硬锁 / 软锁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3246120"/>
            <a:ext cx="2743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D9D9D9"/>
                </a:solidFill>
                <a:latin typeface="Microsoft YaHe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828800"/>
            <a:ext cx="3429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828800"/>
            <a:ext cx="3429000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847088"/>
            <a:ext cx="3429000" cy="6035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第三层  ·  隔离单核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06040"/>
            <a:ext cx="30632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E7D32"/>
                </a:solidFill>
                <a:latin typeface="Microsoft YaHei"/>
              </a:rPr>
              <a:t>把故障核摘除，保全其余算力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200400"/>
            <a:ext cx="301752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• 自动下线（offline）故障 CPU 核心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• 在健康 CPU 上执行隔离动作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• 通知上层调度，触发 VM 热迁移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" cy="4114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960120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Microsoft YaHei"/>
              </a:rPr>
              <a:t>效果：从「整机宕机」到「单核隔离」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27432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C70039"/>
                </a:solidFill>
                <a:latin typeface="Microsoft YaHe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52120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5212080" cy="50292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43584"/>
            <a:ext cx="521208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现状：无 CFI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2011680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0116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93976" y="2011680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3976" y="20116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0632" y="2011680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20116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47288" y="2011680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20116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2688336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2688336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93976" y="2688336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93976" y="2688336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70632" y="2688336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0632" y="2688336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47288" y="2688336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47288" y="2688336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3364992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3364992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3976" y="3364992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93976" y="3364992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70632" y="3364992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70632" y="3364992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47288" y="3364992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47288" y="3364992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17320" y="4041648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17320" y="4041648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93976" y="4041648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93976" y="4041648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70632" y="4041648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0632" y="4041648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47288" y="4041648"/>
            <a:ext cx="566928" cy="566928"/>
          </a:xfrm>
          <a:prstGeom prst="rect">
            <a:avLst/>
          </a:prstGeom>
          <a:solidFill>
            <a:srgbClr val="F0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47288" y="4041648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074920"/>
            <a:ext cx="48463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C70039"/>
                </a:solidFill>
                <a:latin typeface="Microsoft YaHei"/>
              </a:rPr>
              <a:t>一核故障 → 整机 panic → 全部 VM 丢失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3017520"/>
            <a:ext cx="5486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C70039"/>
                </a:solidFill>
                <a:latin typeface="Microsoft YaHei"/>
              </a:rPr>
              <a:t>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1234440"/>
            <a:ext cx="493776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37960" y="1234440"/>
            <a:ext cx="493776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1243584"/>
            <a:ext cx="4937760" cy="4846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方案：启用 CFI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9480" y="2011680"/>
            <a:ext cx="566928" cy="566928"/>
          </a:xfrm>
          <a:prstGeom prst="rect">
            <a:avLst/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69480" y="20116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VM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46136" y="2011680"/>
            <a:ext cx="566928" cy="566928"/>
          </a:xfrm>
          <a:prstGeom prst="rect">
            <a:avLst/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46136" y="20116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VM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22792" y="2011680"/>
            <a:ext cx="566928" cy="566928"/>
          </a:xfrm>
          <a:prstGeom prst="rect">
            <a:avLst/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22792" y="20116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VM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99448" y="2011680"/>
            <a:ext cx="566928" cy="566928"/>
          </a:xfrm>
          <a:prstGeom prst="rect">
            <a:avLst/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99448" y="201168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VM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69480" y="2688336"/>
            <a:ext cx="566928" cy="566928"/>
          </a:xfrm>
          <a:prstGeom prst="rect">
            <a:avLst/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69480" y="2688336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VM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46136" y="2688336"/>
            <a:ext cx="566928" cy="566928"/>
          </a:xfrm>
          <a:prstGeom prst="rect">
            <a:avLst/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46136" y="2688336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VM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22792" y="2688336"/>
            <a:ext cx="566928" cy="56692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22792" y="2688336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70039"/>
                </a:solidFill>
                <a:latin typeface="Microsoft YaHei"/>
              </a:rPr>
              <a:t>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99448" y="2688336"/>
            <a:ext cx="566928" cy="566928"/>
          </a:xfrm>
          <a:prstGeom prst="rect">
            <a:avLst/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99448" y="2688336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VM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69480" y="3364992"/>
            <a:ext cx="566928" cy="566928"/>
          </a:xfrm>
          <a:prstGeom prst="rect">
            <a:avLst/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69480" y="3364992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VM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46136" y="3364992"/>
            <a:ext cx="566928" cy="566928"/>
          </a:xfrm>
          <a:prstGeom prst="rect">
            <a:avLst/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46136" y="3364992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VM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22792" y="3364992"/>
            <a:ext cx="566928" cy="566928"/>
          </a:xfrm>
          <a:prstGeom prst="rect">
            <a:avLst/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22792" y="3364992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VM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299448" y="3364992"/>
            <a:ext cx="566928" cy="566928"/>
          </a:xfrm>
          <a:prstGeom prst="rect">
            <a:avLst/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99448" y="3364992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VM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69480" y="4041648"/>
            <a:ext cx="566928" cy="566928"/>
          </a:xfrm>
          <a:prstGeom prst="rect">
            <a:avLst/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69480" y="4041648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VM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46136" y="4041648"/>
            <a:ext cx="566928" cy="566928"/>
          </a:xfrm>
          <a:prstGeom prst="rect">
            <a:avLst/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46136" y="4041648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VM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22792" y="4041648"/>
            <a:ext cx="566928" cy="566928"/>
          </a:xfrm>
          <a:prstGeom prst="rect">
            <a:avLst/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22792" y="4041648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VM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99448" y="4041648"/>
            <a:ext cx="566928" cy="566928"/>
          </a:xfrm>
          <a:prstGeom prst="rect">
            <a:avLst/>
          </a:prstGeom>
          <a:solidFill>
            <a:srgbClr val="E6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99448" y="4041648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VM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20840" y="5074920"/>
            <a:ext cx="45720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E7D32"/>
                </a:solidFill>
                <a:latin typeface="Microsoft YaHei"/>
              </a:rPr>
              <a:t>仅隔离故障核 → 丢 1 VM → 其余照常运行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" cy="4114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960120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Microsoft YaHei"/>
              </a:rPr>
              <a:t>技术实现：关键技术与华为内核适配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27432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C70039"/>
                </a:solidFill>
                <a:latin typeface="Microsoft Ya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5285232" cy="14173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91440" cy="141732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344168"/>
            <a:ext cx="482803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C70039"/>
                </a:solidFill>
                <a:latin typeface="Microsoft YaHei"/>
              </a:rPr>
              <a:t>Panic 时机拦截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764792"/>
            <a:ext cx="482803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</a:rPr>
              <a:t>在 MCE 处理注册前先调高 tolerant 等级，使致命错误流入处理链而非直接宕机；锁核 panic 同步关闭，改由模块接管。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234440"/>
            <a:ext cx="5285232" cy="14173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234440"/>
            <a:ext cx="91440" cy="141732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44168"/>
            <a:ext cx="482803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C70039"/>
                </a:solidFill>
                <a:latin typeface="Microsoft YaHei"/>
              </a:rPr>
              <a:t>HCE3 内核适配（核心难点）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64792"/>
            <a:ext cx="482803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</a:rPr>
              <a:t>HCE3 移除了 tolerant 的 sysfs 接口。方案通过 kprobe 探测内核符号地址，直接安全地修改内核变量，同一模块兼容上游与华为定制内核。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798064"/>
            <a:ext cx="5285232" cy="14173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798064"/>
            <a:ext cx="91440" cy="141732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2907792"/>
            <a:ext cx="482803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C70039"/>
                </a:solidFill>
                <a:latin typeface="Microsoft YaHei"/>
              </a:rPr>
              <a:t>华为 FMA 框架集成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3328416"/>
            <a:ext cx="482803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</a:rPr>
              <a:t>运行时探测并接入 HCE3 的 fma_mce_do_chain / mce_panic_chain，获得更早的故障通知与最后防线日志，与华为故障管理体系协同。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2798064"/>
            <a:ext cx="5285232" cy="14173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2798064"/>
            <a:ext cx="91440" cy="141732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907792"/>
            <a:ext cx="482803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C70039"/>
                </a:solidFill>
                <a:latin typeface="Microsoft YaHei"/>
              </a:rPr>
              <a:t>跨核安全隔离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28416"/>
            <a:ext cx="482803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</a:rPr>
              <a:t>故障核可能已失能，隔离动作经工作队列调度到健康 CPU 执行 offline，自动迁移任务与中断，杜绝「自己摘自己」的死锁。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361688"/>
            <a:ext cx="5285232" cy="14173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361688"/>
            <a:ext cx="91440" cy="141732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471416"/>
            <a:ext cx="482803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C70039"/>
                </a:solidFill>
                <a:latin typeface="Microsoft YaHei"/>
              </a:rPr>
              <a:t>独立锁核检测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892040"/>
            <a:ext cx="482803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</a:rPr>
              <a:t>自建 per-CPU 心跳（硬件中断维度）+ 内核线程（调度维度）双重探测，锁核事件单次即触发隔离，不依赖内核 watchdog。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0488" y="4361688"/>
            <a:ext cx="5285232" cy="14173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4361688"/>
            <a:ext cx="91440" cy="141732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471416"/>
            <a:ext cx="482803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C70039"/>
                </a:solidFill>
                <a:latin typeface="Microsoft YaHei"/>
              </a:rPr>
              <a:t>用户态协作隔离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92040"/>
            <a:ext cx="4828032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333333"/>
                </a:solidFill>
                <a:latin typeface="Microsoft YaHei"/>
              </a:rPr>
              <a:t>通过 netlink 上报状态，给守护进程留出窗口热迁移 VM；超时未响应则强制下线，确保兜底。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9144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70039"/>
                </a:solidFill>
                <a:latin typeface="Arial"/>
              </a:rPr>
              <a:t>TECHNICAL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技术深潜：八大攻坚点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D9D9D9"/>
                </a:solidFill>
                <a:latin typeface="Microsoft YaHei"/>
              </a:rPr>
              <a:t>面向技术评审 —— 难在哪里、常规做法为何失效、我们如何攻克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0B0B0"/>
                </a:solidFill>
                <a:latin typeface="Microsoft YaHei"/>
              </a:rPr>
              <a:t>Panic 时序拦截  ·  内核符号直写  ·  华为 FMA 逆向集成  ·  跨核并发隔离  ·  双探针锁核检测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0B0B0"/>
                </a:solidFill>
                <a:latin typeface="Microsoft YaHei"/>
              </a:rPr>
              <a:t>状态机与阈值引擎  ·  Daemon 协作隔离协议  ·  模块初始化编排与容错卸载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"/>
            <a:ext cx="109728" cy="50292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A1A1A"/>
                </a:solidFill>
                <a:latin typeface="Microsoft YaHei"/>
              </a:rPr>
              <a:t>攻坚点一：抢在 mce_panic() 之前夺回控制权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7432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C70039"/>
                </a:solidFill>
                <a:latin typeface="Arial"/>
              </a:rPr>
              <a:t>T1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2412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566928"/>
            <a:ext cx="8686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66666"/>
                </a:solidFill>
                <a:latin typeface="Microsoft YaHei"/>
              </a:rPr>
              <a:t>技术难度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46920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84664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22408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60152" y="612648"/>
            <a:ext cx="182880" cy="1828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97896" y="612648"/>
            <a:ext cx="182880" cy="1828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280160"/>
            <a:ext cx="53492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1280160"/>
            <a:ext cx="82296" cy="15544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389888"/>
            <a:ext cx="498348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70039"/>
                </a:solidFill>
                <a:latin typeface="Microsoft YaHei"/>
              </a:rPr>
              <a:t>▎难点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755648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致命 MCE 的处理是</a:t>
            </a:r>
            <a:r>
              <a:rPr sz="1150" b="1">
                <a:solidFill>
                  <a:srgbClr val="C70039"/>
                </a:solidFill>
                <a:latin typeface="Microsoft YaHei"/>
              </a:rPr>
              <a:t>不可逆的「一锤子」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：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do_machine_check() 在 NMI 类上下文中同步判定严重性，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一旦 worst ≥ PANIC 级别立即 mce_panic()，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此后 CPU 不再返回，任何后置 handler 都是空谈。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926080"/>
            <a:ext cx="5349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2926080"/>
            <a:ext cx="82296" cy="1417320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035808"/>
            <a:ext cx="498348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8A00"/>
                </a:solidFill>
                <a:latin typeface="Microsoft YaHei"/>
              </a:rPr>
              <a:t>▎常规做法为何失效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401568"/>
            <a:ext cx="4937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• 注册 MCE decode chain —— </a:t>
            </a:r>
            <a:r>
              <a:rPr sz="1150" b="1">
                <a:solidFill>
                  <a:srgbClr val="C70039"/>
                </a:solidFill>
                <a:latin typeface="Microsoft YaHei"/>
              </a:rPr>
              <a:t>时机在 panic 之后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• 调 sysfs tolerant —— </a:t>
            </a:r>
            <a:r>
              <a:rPr sz="1150" b="1">
                <a:solidFill>
                  <a:srgbClr val="C70039"/>
                </a:solidFill>
                <a:latin typeface="Microsoft YaHei"/>
              </a:rPr>
              <a:t>HCE3 已移除该接口（见 T2）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• 改内核源码 —— 存量节点无法热更，不可接受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434840"/>
            <a:ext cx="5349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434840"/>
            <a:ext cx="82296" cy="14173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44568"/>
            <a:ext cx="498348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7D32"/>
                </a:solidFill>
                <a:latin typeface="Microsoft YaHei"/>
              </a:rPr>
              <a:t>▎我们的解法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10328"/>
            <a:ext cx="4937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① 加载即把 </a:t>
            </a:r>
            <a:r>
              <a:rPr sz="1150" b="1">
                <a:solidFill>
                  <a:srgbClr val="2E7D32"/>
                </a:solidFill>
                <a:latin typeface="Microsoft YaHei"/>
              </a:rPr>
              <a:t>mce_tolerant 提到 3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，让致命 MCE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   降级为「可处理」而流入 decode chain；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② notifier 优先级抬到 </a:t>
            </a:r>
            <a:r>
              <a:rPr sz="1150" b="1">
                <a:solidFill>
                  <a:srgbClr val="2E7D32"/>
                </a:solidFill>
                <a:latin typeface="Microsoft YaHei"/>
              </a:rPr>
              <a:t>MCE_PRIO_EDAC + 1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，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   抢在其它消费者之前启动隔离。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280160"/>
            <a:ext cx="5166360" cy="310896"/>
          </a:xfrm>
          <a:prstGeom prst="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280160"/>
            <a:ext cx="48920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D4A0"/>
                </a:solidFill>
                <a:latin typeface="Consolas"/>
              </a:rPr>
              <a:t>kernel/arch/x86/cfi_x86.c  ·  do_machine_check 时序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591056"/>
            <a:ext cx="5166360" cy="4261104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1682496"/>
            <a:ext cx="4855464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7A8B99"/>
                </a:solidFill>
                <a:latin typeface="Consolas"/>
              </a:rPr>
              <a:t>/* do_machine_check() 内核逻辑（简化）*/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worst = mce_severity(&amp;m, ...);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if (worst &gt;= MCE_PANIC_SEVERITY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9D6B"/>
                </a:solidFill>
                <a:latin typeface="Consolas"/>
              </a:rPr>
              <a:t>    &amp;&amp; tolerant &lt; 3)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        mce_panic("Fatal MCE", ...);  // 宕机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6BD4A0"/>
                </a:solidFill>
                <a:latin typeface="Consolas"/>
              </a:rPr>
              <a:t>        /*  ↑ tolerant=3 时跳过本行  */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7A8B99"/>
                </a:solidFill>
                <a:latin typeface="Consolas"/>
              </a:rPr>
              <a:t>/* CFI: 抬高 notifier 抢占时机 */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static struct notifier_block cfi_mce_nb = {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   .notifier_call = cfi_x86_mce_notifier,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9D6B"/>
                </a:solidFill>
                <a:latin typeface="Consolas"/>
              </a:rPr>
              <a:t>   .priority = MCE_PRIO_EDAC + 1,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};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mce_register_decode_chain(&amp;cfi_mce_nb);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"/>
            <a:ext cx="109728" cy="50292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KALLSYMS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A1A1A"/>
                </a:solidFill>
                <a:latin typeface="Microsoft YaHei"/>
              </a:rPr>
              <a:t>攻坚点二：HCE3 抹掉了 sysfs，如何安全改内核变量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7432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C70039"/>
                </a:solidFill>
                <a:latin typeface="Arial"/>
              </a:rPr>
              <a:t>T2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2412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566928"/>
            <a:ext cx="8686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66666"/>
                </a:solidFill>
                <a:latin typeface="Microsoft YaHei"/>
              </a:rPr>
              <a:t>技术难度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46920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84664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22408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60152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97896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28016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1280160"/>
            <a:ext cx="82296" cy="182880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389888"/>
            <a:ext cx="498348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70039"/>
                </a:solidFill>
                <a:latin typeface="Microsoft YaHei"/>
              </a:rPr>
              <a:t>▎难点（本项目最硬核）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755648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华为 HCE3 定制内核</a:t>
            </a:r>
            <a:r>
              <a:rPr sz="1150" b="1">
                <a:solidFill>
                  <a:srgbClr val="C70039"/>
                </a:solidFill>
                <a:latin typeface="Microsoft YaHei"/>
              </a:rPr>
              <a:t>删除了 tolerant 的 sysfs 节点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，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用户态无任何官方入口可改它。而内核变量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mce_tolerant 是 </a:t>
            </a:r>
            <a:r>
              <a:rPr sz="1150" b="1">
                <a:solidFill>
                  <a:srgbClr val="C70039"/>
                </a:solidFill>
                <a:latin typeface="Microsoft YaHei"/>
              </a:rPr>
              <a:t>static、未导出符号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，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且 kallsyms_lookup_name() 自 5.7 起</a:t>
            </a:r>
            <a:r>
              <a:rPr sz="1150" b="1">
                <a:solidFill>
                  <a:srgbClr val="C70039"/>
                </a:solidFill>
                <a:latin typeface="Microsoft YaHei"/>
              </a:rPr>
              <a:t>不再导出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，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模块拿不到它的地址 —— 看似死路。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200400"/>
            <a:ext cx="5349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200400"/>
            <a:ext cx="82296" cy="123444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10128"/>
            <a:ext cx="498348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5A9E"/>
                </a:solidFill>
                <a:latin typeface="Microsoft YaHei"/>
              </a:rPr>
              <a:t>▎关键突破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75888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借道 </a:t>
            </a:r>
            <a:r>
              <a:rPr sz="1150" b="1">
                <a:solidFill>
                  <a:srgbClr val="005A9E"/>
                </a:solidFill>
                <a:latin typeface="Microsoft YaHei"/>
              </a:rPr>
              <a:t>kprobe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：注册一个以符号名为目标的探针，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内核会替我们完成符号解析并回填 kp.addr，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立即注销探针 —— </a:t>
            </a:r>
            <a:r>
              <a:rPr sz="1150" b="1">
                <a:solidFill>
                  <a:srgbClr val="005A9E"/>
                </a:solidFill>
                <a:latin typeface="Microsoft YaHei"/>
              </a:rPr>
              <a:t>零副作用地「借」到地址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26280"/>
            <a:ext cx="5349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526280"/>
            <a:ext cx="82296" cy="13258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36008"/>
            <a:ext cx="498348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7D32"/>
                </a:solidFill>
                <a:latin typeface="Microsoft YaHei"/>
              </a:rPr>
              <a:t>▎工程化兜底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01768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• 双名探测：mce_tolerant / tolerant 容错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150" b="1">
                <a:solidFill>
                  <a:srgbClr val="2E7D32"/>
                </a:solidFill>
                <a:latin typeface="Microsoft YaHei"/>
              </a:rPr>
              <a:t>保存原值，模块卸载时精确还原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• sysfs 可用时优先走标准路径，directw 为后备</a:t>
            </a:r>
          </a:p>
          <a:p>
            <a:pPr algn="l">
              <a:lnSpc>
                <a:spcPct val="116000"/>
              </a:lnSpc>
            </a:pPr>
            <a:r>
              <a:rPr sz="1150" b="1">
                <a:solidFill>
                  <a:srgbClr val="2E7D32"/>
                </a:solidFill>
                <a:latin typeface="Microsoft YaHei"/>
              </a:rPr>
              <a:t>→ 同一个 .ko 同时兼容上游内核与 HCE3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280160"/>
            <a:ext cx="5166360" cy="310896"/>
          </a:xfrm>
          <a:prstGeom prst="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280160"/>
            <a:ext cx="48920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D4A0"/>
                </a:solidFill>
                <a:latin typeface="Consolas"/>
              </a:rPr>
              <a:t>kernel/core/cfi_panic_suppress.c  ·  符号直写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591056"/>
            <a:ext cx="5166360" cy="4261104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1682496"/>
            <a:ext cx="4855464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7A8B99"/>
                </a:solidFill>
                <a:latin typeface="Consolas"/>
              </a:rPr>
              <a:t>/* 用 kprobe 偷取未导出符号地址 */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static unsigned long lookup(const char *n) {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   struct kprobe kp = { .symbol_name = n };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9D6B"/>
                </a:solidFill>
                <a:latin typeface="Consolas"/>
              </a:rPr>
              <a:t>   if (register_kprobe(&amp;kp) &lt; 0)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       return 0;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6BD4A0"/>
                </a:solidFill>
                <a:latin typeface="Consolas"/>
              </a:rPr>
              <a:t>   unsigned long a = (unsigned long)kp.addr;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   unregister_kprobe(&amp;kp);   // 立即注销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   return a;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7A8B99"/>
                </a:solidFill>
                <a:latin typeface="Consolas"/>
              </a:rPr>
              <a:t>/* 直写内核变量，绕过缺失的 sysfs */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int *p = (int *)lookup("mce_tolerant");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orig = *p;          // 备份用于还原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9D6B"/>
                </a:solidFill>
                <a:latin typeface="Consolas"/>
              </a:rPr>
              <a:t>*p   = 3;           // 阻止 mce_panic()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"/>
            <a:ext cx="109728" cy="50292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FMA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A1A1A"/>
                </a:solidFill>
                <a:latin typeface="Microsoft YaHei"/>
              </a:rPr>
              <a:t>攻坚点三：运行时探测并接入华为 FMA 故障框架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7432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C70039"/>
                </a:solidFill>
                <a:latin typeface="Arial"/>
              </a:rPr>
              <a:t>T3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2412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566928"/>
            <a:ext cx="8686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66666"/>
                </a:solidFill>
                <a:latin typeface="Microsoft YaHei"/>
              </a:rPr>
              <a:t>技术难度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46920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84664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22408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60152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97896" y="612648"/>
            <a:ext cx="182880" cy="1828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234440"/>
            <a:ext cx="107899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333333"/>
                </a:solidFill>
                <a:latin typeface="Microsoft YaHei"/>
              </a:rPr>
              <a:t>HCE3 内核内置了华为自有的 FMA（Fault Management Architecture）故障管理框架，提供了上游内核没有的额外通知点。挑战在于：这些符号无公开头文件、无文档，且必须做到「有则用、无则跳过」，绝不能让模块在上游内核上加载失败。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011680"/>
            <a:ext cx="34564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011680"/>
            <a:ext cx="3456432" cy="45720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020824"/>
            <a:ext cx="3456432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fma_mce_do_chain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578608"/>
            <a:ext cx="31089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05A9E"/>
                </a:solidFill>
                <a:latin typeface="Microsoft YaHei"/>
              </a:rPr>
              <a:t>do_machine_check() 内部触发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999232"/>
            <a:ext cx="3108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最早期的 MCE 事件捕获点，比标准 decode chain 更靠前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2606040"/>
            <a:ext cx="2743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D9D9D9"/>
                </a:solidFill>
                <a:latin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011680"/>
            <a:ext cx="34564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011680"/>
            <a:ext cx="3456432" cy="45720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020824"/>
            <a:ext cx="3456432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mce_tolerant 变量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578608"/>
            <a:ext cx="31089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C70039"/>
                </a:solidFill>
                <a:latin typeface="Microsoft YaHei"/>
              </a:rPr>
              <a:t>severity 判定时读取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999232"/>
            <a:ext cx="3108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T2 直写的目标，决定是否 panic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06040"/>
            <a:ext cx="2743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D9D9D9"/>
                </a:solidFill>
                <a:latin typeface="Microsoft YaHe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2011680"/>
            <a:ext cx="345643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2011680"/>
            <a:ext cx="3456432" cy="457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2020824"/>
            <a:ext cx="3456432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onsolas"/>
              </a:rPr>
              <a:t>mce_panic_chain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578608"/>
            <a:ext cx="31089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33333"/>
                </a:solidFill>
                <a:latin typeface="Microsoft YaHei"/>
              </a:rPr>
              <a:t>mce_panic() 执行前回调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999232"/>
            <a:ext cx="31089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最后防线：兜底诊断日志，留存现场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3977639"/>
            <a:ext cx="10789920" cy="310896"/>
          </a:xfrm>
          <a:prstGeom prst="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977639"/>
            <a:ext cx="1051560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D4A0"/>
                </a:solidFill>
                <a:latin typeface="Consolas"/>
              </a:rPr>
              <a:t>kernel/arch/x86/cfi_x86.c  ·  FMA 运行时集成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4288535"/>
            <a:ext cx="10789920" cy="1563623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" y="4379975"/>
            <a:ext cx="10479024" cy="1380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50">
                <a:solidFill>
                  <a:srgbClr val="7A8B99"/>
                </a:solidFill>
                <a:latin typeface="Consolas"/>
              </a:rPr>
              <a:t>/* 运行时探测：有则注册，无则静默跳过 —— 单一 .ko 兼容上游 + HCE3 */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addr = lookup("fma_register_mce_do_chain");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FF9D6B"/>
                </a:solidFill>
                <a:latin typeface="Consolas"/>
              </a:rPr>
              <a:t>if (addr) {                       // 仅 HCE3 命中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    void (*reg)(struct notifier_block *) = (void *)addr;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6BD4A0"/>
                </a:solidFill>
                <a:latin typeface="Consolas"/>
              </a:rPr>
              <a:t>    reg(&amp;cfi_fma_nb);             // 接入华为 FMA 早期通知链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E0E0E0"/>
                </a:solidFill>
                <a:latin typeface="Consolas"/>
              </a:rPr>
              <a:t>    fma_chain_registered = true;</a:t>
            </a:r>
          </a:p>
          <a:p>
            <a:pPr>
              <a:lnSpc>
                <a:spcPct val="112000"/>
              </a:lnSpc>
            </a:pPr>
            <a:r>
              <a:rPr sz="1150">
                <a:solidFill>
                  <a:srgbClr val="7A8B99"/>
                </a:solidFill>
                <a:latin typeface="Consolas"/>
              </a:rPr>
              <a:t>}                                 // 上游内核：addr=0，自动降级为标准路径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"/>
            <a:ext cx="109728" cy="50292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CONCURRENCY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A1A1A"/>
                </a:solidFill>
                <a:latin typeface="Microsoft YaHei"/>
              </a:rPr>
              <a:t>攻坚点四：在「正在故障的核」上安全地摘掉它自己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7432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C70039"/>
                </a:solidFill>
                <a:latin typeface="Arial"/>
              </a:rPr>
              <a:t>T4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2412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566928"/>
            <a:ext cx="8686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66666"/>
                </a:solidFill>
                <a:latin typeface="Microsoft YaHei"/>
              </a:rPr>
              <a:t>技术难度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46920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84664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22408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60152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97896" y="612648"/>
            <a:ext cx="182880" cy="1828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280160"/>
            <a:ext cx="53492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1280160"/>
            <a:ext cx="82296" cy="22402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389888"/>
            <a:ext cx="498348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70039"/>
                </a:solidFill>
                <a:latin typeface="Microsoft YaHei"/>
              </a:rPr>
              <a:t>▎三重约束彼此打架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755648"/>
            <a:ext cx="49377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① 错误回调可能在 </a:t>
            </a:r>
            <a:r>
              <a:rPr sz="1150" b="1">
                <a:solidFill>
                  <a:srgbClr val="C70039"/>
                </a:solidFill>
                <a:latin typeface="Microsoft YaHei"/>
              </a:rPr>
              <a:t>NMI / 原子上下文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，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   绝对不能睡眠、不能直接 cpu_down()；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② cpu_down() / remove_cpu() </a:t>
            </a:r>
            <a:r>
              <a:rPr sz="1150" b="1">
                <a:solidFill>
                  <a:srgbClr val="C70039"/>
                </a:solidFill>
                <a:latin typeface="Microsoft YaHei"/>
              </a:rPr>
              <a:t>必须在进程上下文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；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③ 故障核若已硬锁，</a:t>
            </a:r>
            <a:r>
              <a:rPr sz="1150" b="1">
                <a:solidFill>
                  <a:srgbClr val="C70039"/>
                </a:solidFill>
                <a:latin typeface="Microsoft YaHei"/>
              </a:rPr>
              <a:t>它的 workqueue 根本不转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，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   把隔离任务派给它 = 任务永远不执行；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④ 还要防止把</a:t>
            </a:r>
            <a:r>
              <a:rPr sz="1150" b="1">
                <a:solidFill>
                  <a:srgbClr val="C70039"/>
                </a:solidFill>
                <a:latin typeface="Microsoft YaHei"/>
              </a:rPr>
              <a:t>最后一个在线核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也摘掉。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611880"/>
            <a:ext cx="53492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611880"/>
            <a:ext cx="82296" cy="22402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21608"/>
            <a:ext cx="498348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7D32"/>
                </a:solidFill>
                <a:latin typeface="Microsoft YaHei"/>
              </a:rPr>
              <a:t>▎解法：延迟 + 异核调度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87368"/>
            <a:ext cx="49377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• 错误上下文只做</a:t>
            </a:r>
            <a:r>
              <a:rPr sz="1150" b="1">
                <a:solidFill>
                  <a:srgbClr val="2E7D32"/>
                </a:solidFill>
                <a:latin typeface="Microsoft YaHei"/>
              </a:rPr>
              <a:t>状态迁移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，把下线动作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  甩进 work_struct 延后执行（脱离原子上下文）；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• 紧急场景用 </a:t>
            </a:r>
            <a:r>
              <a:rPr sz="1150" b="1">
                <a:solidFill>
                  <a:srgbClr val="2E7D32"/>
                </a:solidFill>
                <a:latin typeface="Microsoft YaHei"/>
              </a:rPr>
              <a:t>queue_work_on(健康核)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，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  确保隔离逻辑跑在</a:t>
            </a:r>
            <a:r>
              <a:rPr sz="1150" b="1">
                <a:solidFill>
                  <a:srgbClr val="2E7D32"/>
                </a:solidFill>
                <a:latin typeface="Microsoft YaHei"/>
              </a:rPr>
              <a:t>能动的 CPU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上；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• cpumask_any_but() 选靶核，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  并兜底拒绝「自隔离最后一核」。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280160"/>
            <a:ext cx="5166360" cy="310896"/>
          </a:xfrm>
          <a:prstGeom prst="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280160"/>
            <a:ext cx="48920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D4A0"/>
                </a:solidFill>
                <a:latin typeface="Consolas"/>
              </a:rPr>
              <a:t>kernel/core/cfi_hotplug.c  ·  异核延迟隔离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591056"/>
            <a:ext cx="5166360" cy="4261104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1682496"/>
            <a:ext cx="4855464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00">
                <a:solidFill>
                  <a:srgbClr val="E0E0E0"/>
                </a:solidFill>
                <a:latin typeface="Consolas"/>
              </a:rPr>
              <a:t>void cfi_begin_isolation(cpu, urgent) {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7A8B99"/>
                </a:solidFill>
                <a:latin typeface="Consolas"/>
              </a:rPr>
              <a:t>  /* 故障核可能正硬锁 → 不能派给它自己 */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FF9D6B"/>
                </a:solidFill>
                <a:latin typeface="Consolas"/>
              </a:rPr>
              <a:t>  if (urgent &amp;&amp;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FF9D6B"/>
                </a:solidFill>
                <a:latin typeface="Consolas"/>
              </a:rPr>
              <a:t>      raw_smp_processor_id() == cpu) {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0E0E0"/>
                </a:solidFill>
                <a:latin typeface="Consolas"/>
              </a:rPr>
              <a:t>    target =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6BD4A0"/>
                </a:solidFill>
                <a:latin typeface="Consolas"/>
              </a:rPr>
              <a:t>      cpumask_any_but(cpu_online_mask, cpu);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0E0E0"/>
                </a:solidFill>
                <a:latin typeface="Consolas"/>
              </a:rPr>
              <a:t>    if (target &gt;= nr_cpu_ids)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FF9D6B"/>
                </a:solidFill>
                <a:latin typeface="Consolas"/>
              </a:rPr>
              <a:t>        return;  // 拒绝摘掉最后一核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6BD4A0"/>
                </a:solidFill>
                <a:latin typeface="Consolas"/>
              </a:rPr>
              <a:t>    queue_work_on(target, system_wq,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6BD4A0"/>
                </a:solidFill>
                <a:latin typeface="Consolas"/>
              </a:rPr>
              <a:t>                  &amp;ci-&gt;offline_work);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0E0E0"/>
                </a:solidFill>
                <a:latin typeface="Consolas"/>
              </a:rPr>
              <a:t>  } else {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0E0E0"/>
                </a:solidFill>
                <a:latin typeface="Consolas"/>
              </a:rPr>
              <a:t>    schedule_work(&amp;ci-&gt;offline_work);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0E0E0"/>
                </a:solidFill>
                <a:latin typeface="Consolas"/>
              </a:rPr>
              <a:t>  }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7A8B99"/>
                </a:solidFill>
                <a:latin typeface="Consolas"/>
              </a:rPr>
              <a:t>/* work 内才调 remove_cpu() —— 进程上下文 */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"/>
            <a:ext cx="109728" cy="50292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WATCHDOG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A1A1A"/>
                </a:solidFill>
                <a:latin typeface="Microsoft YaHei"/>
              </a:rPr>
              <a:t>攻坚点五：自建双探针，正交识别硬锁与软锁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7432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C70039"/>
                </a:solidFill>
                <a:latin typeface="Arial"/>
              </a:rPr>
              <a:t>T5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2412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566928"/>
            <a:ext cx="8686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66666"/>
                </a:solidFill>
                <a:latin typeface="Microsoft YaHei"/>
              </a:rPr>
              <a:t>技术难度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46920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84664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22408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60152" y="612648"/>
            <a:ext cx="182880" cy="1828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97896" y="612648"/>
            <a:ext cx="182880" cy="1828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333333"/>
                </a:solidFill>
                <a:latin typeface="Microsoft YaHei"/>
              </a:rPr>
              <a:t>关闭了内核 watchdog 的 panic 后，必须自己「补位」检测锁核。难点在于：检测器自身可能也跑在故障核上而一同失效。方案用两路正交探针 + 异核裁决，避免「检测者和被检测者同归于尽」。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011680"/>
            <a:ext cx="525780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011680"/>
            <a:ext cx="5257800" cy="45720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020824"/>
            <a:ext cx="52578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探针 A · 硬中断维度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06040"/>
            <a:ext cx="4754880" cy="160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Per-CPU hrtimer 每 4s 自增心跳计数。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一个独立的全局 monitor 跑在健康核上，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巡检各核心跳是否「卡住」——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连续 30s 不增长 → 判定硬锁（hardlockup）。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本质：硬中断都进不来，CPU 真的卡死了。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011680"/>
            <a:ext cx="525780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011680"/>
            <a:ext cx="5257800" cy="457200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020824"/>
            <a:ext cx="5257800" cy="4389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探针 B · 调度维度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06040"/>
            <a:ext cx="4754880" cy="160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Per-CPU kthread 每 4s 刷新一次时间戳。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hrtimer 回调里检查该时间戳是否过期 ——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心跳在转但线程调度不动 → 判定软锁。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本质：中断正常，但调度器饿死了任务。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526280"/>
            <a:ext cx="10789920" cy="13258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526280"/>
            <a:ext cx="109728" cy="1325880"/>
          </a:xfrm>
          <a:prstGeom prst="rect">
            <a:avLst/>
          </a:prstGeom>
          <a:solidFill>
            <a:srgbClr val="6BD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663440"/>
            <a:ext cx="102412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6BD4A0"/>
                </a:solidFill>
                <a:latin typeface="Microsoft YaHei"/>
              </a:rPr>
              <a:t>设计精髓  </a:t>
            </a:r>
            <a:r>
              <a:rPr sz="1250" b="0">
                <a:solidFill>
                  <a:srgbClr val="E0E0E0"/>
                </a:solidFill>
                <a:latin typeface="Microsoft YaHei"/>
              </a:rPr>
              <a:t>两路探针正交覆盖「中断层」与「调度层」两类失效模式；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E0E0E0"/>
                </a:solidFill>
                <a:latin typeface="Microsoft YaHei"/>
              </a:rPr>
              <a:t>裁决逻辑特意运行在</a:t>
            </a:r>
            <a:r>
              <a:rPr sz="1250" b="1">
                <a:solidFill>
                  <a:srgbClr val="6BD4A0"/>
                </a:solidFill>
                <a:latin typeface="Microsoft YaHei"/>
              </a:rPr>
              <a:t>异核（健康 CPU）</a:t>
            </a:r>
            <a:r>
              <a:rPr sz="1250" b="0">
                <a:solidFill>
                  <a:srgbClr val="E0E0E0"/>
                </a:solidFill>
                <a:latin typeface="Microsoft YaHei"/>
              </a:rPr>
              <a:t>上，被测核即使完全死锁也能被外部判定并隔离；</a:t>
            </a:r>
          </a:p>
          <a:p>
            <a:pPr algn="l">
              <a:lnSpc>
                <a:spcPct val="122000"/>
              </a:lnSpc>
            </a:pPr>
            <a:r>
              <a:rPr sz="1250" b="0">
                <a:solidFill>
                  <a:srgbClr val="E0E0E0"/>
                </a:solidFill>
                <a:latin typeface="Microsoft YaHei"/>
              </a:rPr>
              <a:t>锁核事件</a:t>
            </a:r>
            <a:r>
              <a:rPr sz="1250" b="1">
                <a:solidFill>
                  <a:srgbClr val="FF9D6B"/>
                </a:solidFill>
                <a:latin typeface="Microsoft YaHei"/>
              </a:rPr>
              <a:t>单次即触发，跳过常规阈值累计</a:t>
            </a:r>
            <a:r>
              <a:rPr sz="1250" b="0">
                <a:solidFill>
                  <a:srgbClr val="E0E0E0"/>
                </a:solidFill>
                <a:latin typeface="Microsoft YaHei"/>
              </a:rPr>
              <a:t>——— CPU 已不可用，没有「容忍」的余地。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"/>
            <a:ext cx="109728" cy="50292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STATE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A1A1A"/>
                </a:solidFill>
                <a:latin typeface="Microsoft YaHei"/>
              </a:rPr>
              <a:t>攻坚点六：五态状态机 + 滑动窗口阈值引擎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7432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C70039"/>
                </a:solidFill>
                <a:latin typeface="Arial"/>
              </a:rPr>
              <a:t>T6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2412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566928"/>
            <a:ext cx="8686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66666"/>
                </a:solidFill>
                <a:latin typeface="Microsoft YaHei"/>
              </a:rPr>
              <a:t>技术难度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46920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84664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22408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60152" y="612648"/>
            <a:ext cx="182880" cy="1828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97896" y="612648"/>
            <a:ext cx="182880" cy="1828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1280160"/>
            <a:ext cx="548640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371600"/>
            <a:ext cx="51206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</a:rPr>
              <a:t>状态流转全景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2103120"/>
            <a:ext cx="141732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103120"/>
            <a:ext cx="14173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ONLINE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103120"/>
            <a:ext cx="1417320" cy="548640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103120"/>
            <a:ext cx="14173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DEGRADED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383280"/>
            <a:ext cx="1417320" cy="54864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383280"/>
            <a:ext cx="14173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ISOLATING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3383280"/>
            <a:ext cx="1417320" cy="54864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3383280"/>
            <a:ext cx="14173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ISOLATED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6360" y="3383280"/>
            <a:ext cx="1417320" cy="54864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3383280"/>
            <a:ext cx="14173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</a:rPr>
              <a:t>FAILED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1938528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333333"/>
                </a:solidFill>
                <a:latin typeface="Microsoft YaHei"/>
              </a:rPr>
              <a:t>CE &gt;= 10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218688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333333"/>
                </a:solidFill>
                <a:latin typeface="Microsoft YaHei"/>
              </a:rPr>
              <a:t>UCE &gt;= 1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697480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70039"/>
                </a:solidFill>
                <a:latin typeface="Microsoft YaHei"/>
              </a:rPr>
              <a:t>UCE 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2880360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70039"/>
                </a:solidFill>
                <a:latin typeface="Microsoft YaHei"/>
              </a:rPr>
              <a:t>Lockup 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3730752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2E7D32"/>
                </a:solidFill>
                <a:latin typeface="Microsoft YaHei"/>
              </a:rPr>
              <a:t>← 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730752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666666"/>
                </a:solidFill>
                <a:latin typeface="Microsoft YaHei"/>
              </a:rPr>
              <a:t>fail 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280160"/>
            <a:ext cx="5166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1280160"/>
            <a:ext cx="82296" cy="146304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1389888"/>
            <a:ext cx="48006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5A9E"/>
                </a:solidFill>
                <a:latin typeface="Microsoft YaHei"/>
              </a:rPr>
              <a:t>▎滑动窗口计数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1755648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每个 CPU 独立维护 </a:t>
            </a:r>
            <a:r>
              <a:rPr sz="1150" b="1">
                <a:solidFill>
                  <a:srgbClr val="005A9E"/>
                </a:solidFill>
                <a:latin typeface="Microsoft YaHei"/>
              </a:rPr>
              <a:t>CE / UCE 计数器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，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时间窗口到期（默认 1h）自动重置为零；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窗口内累积才计入阈值判定，</a:t>
            </a:r>
            <a:r>
              <a:rPr sz="1150" b="1">
                <a:solidFill>
                  <a:srgbClr val="005A9E"/>
                </a:solidFill>
                <a:latin typeface="Microsoft YaHei"/>
              </a:rPr>
              <a:t>避免历史噪声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。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CE 默认 10 次 / 窗口，UCE 默认 1 次即触发。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834640"/>
            <a:ext cx="5166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2834640"/>
            <a:ext cx="82296" cy="146304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2944368"/>
            <a:ext cx="48006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70039"/>
                </a:solidFill>
                <a:latin typeface="Microsoft YaHei"/>
              </a:rPr>
              <a:t>▎Lockup 特殊路径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310128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1">
                <a:solidFill>
                  <a:srgbClr val="C70039"/>
                </a:solidFill>
                <a:latin typeface="Microsoft YaHei"/>
              </a:rPr>
              <a:t>硬锁 / 软锁事件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跳过阈值累计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，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单次即从任何状态</a:t>
            </a:r>
            <a:r>
              <a:rPr sz="1150" b="1">
                <a:solidFill>
                  <a:srgbClr val="C70039"/>
                </a:solidFill>
                <a:latin typeface="Microsoft YaHei"/>
              </a:rPr>
              <a:t>直达 ISOLATING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，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因为 CPU 已不可用，没有「容忍」的余地；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同时标记为 urgent，跳过 daemon 等待。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4572000"/>
            <a:ext cx="10789920" cy="310896"/>
          </a:xfrm>
          <a:prstGeom prst="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572000"/>
            <a:ext cx="1051560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D4A0"/>
                </a:solidFill>
                <a:latin typeface="Consolas"/>
              </a:rPr>
              <a:t>kernel/core/cfi_core.c  ·  状态机核心逻辑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882896"/>
            <a:ext cx="10789920" cy="969264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" y="4974336"/>
            <a:ext cx="1047902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00">
                <a:solidFill>
                  <a:srgbClr val="7A8B99"/>
                </a:solidFill>
                <a:latin typeface="Consolas"/>
              </a:rPr>
              <a:t>/* Lockup: 跳过阈值，直接隔离 */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FF9D6B"/>
                </a:solidFill>
                <a:latin typeface="Consolas"/>
              </a:rPr>
              <a:t>if (event-&gt;error_type &amp; (CFI_ERR_HARDLOCKUP | CFI_ERR_SOFTLOCKUP)) {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6BD4A0"/>
                </a:solidFill>
                <a:latin typeface="Consolas"/>
              </a:rPr>
              <a:t>    cfi_transition(ci, cpu, CFI_STATE_ISOLATING);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6BD4A0"/>
                </a:solidFill>
                <a:latin typeface="Consolas"/>
              </a:rPr>
              <a:t>    cfi_begin_isolation(cpu, /*urgent=*/true);  return;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0E0E0"/>
                </a:solidFill>
                <a:latin typeface="Consolas"/>
              </a:rPr>
              <a:t>}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7A8B99"/>
                </a:solidFill>
                <a:latin typeface="Consolas"/>
              </a:rPr>
              <a:t>/* 常规 MCE: 累计阈值 → ONLINE ──CE≥10──&gt; DEGRADED ──UCE≥1──&gt; ISOLATING */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"/>
            <a:ext cx="109728" cy="50292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A1A1A"/>
                </a:solidFill>
                <a:latin typeface="Microsoft YaHei"/>
              </a:rPr>
              <a:t>攻坚点七：内核-用户态协作隔离协议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7432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C70039"/>
                </a:solidFill>
                <a:latin typeface="Arial"/>
              </a:rPr>
              <a:t>T7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2412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566928"/>
            <a:ext cx="8686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66666"/>
                </a:solidFill>
                <a:latin typeface="Microsoft YaHei"/>
              </a:rPr>
              <a:t>技术难度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46920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84664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22408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60152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97896" y="612648"/>
            <a:ext cx="182880" cy="1828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333333"/>
                </a:solidFill>
                <a:latin typeface="Microsoft YaHei"/>
              </a:rPr>
              <a:t>直接下线 CPU 会导致其上的 VM vCPU 线程被强杀——数据可能丢失。方案在「时间窗口」与「兜底安全」之间做精确平衡：给守护进程留一个可控的迁移窗口，超时即强制执行，不留无限等待的风险。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920240"/>
            <a:ext cx="10789920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011680"/>
            <a:ext cx="4572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Microsoft YaHei"/>
              </a:rPr>
              <a:t>非紧急路径（CE 累计 / 非致命 UCE）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468880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700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468880"/>
            <a:ext cx="36576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70039"/>
                </a:solidFill>
                <a:latin typeface="Microsoft YaHei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542032"/>
            <a:ext cx="14173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错误达阈值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→ ISOLATING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697480"/>
            <a:ext cx="365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D9D9D9"/>
                </a:solidFill>
                <a:latin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2468880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A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2468880"/>
            <a:ext cx="36576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5A9E"/>
                </a:solidFill>
                <a:latin typeface="Microsoft YaHei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542032"/>
            <a:ext cx="14173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netlink 广播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STATE_CHANGE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697480"/>
            <a:ext cx="365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D9D9D9"/>
                </a:solidFill>
                <a:latin typeface="Microsoft Ya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2468880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468880"/>
            <a:ext cx="36576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7D32"/>
                </a:solidFill>
                <a:latin typeface="Microsoft YaHei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542032"/>
            <a:ext cx="14173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cfid 迁移 VM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vCPU 热迁移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697480"/>
            <a:ext cx="365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D9D9D9"/>
                </a:solidFill>
                <a:latin typeface="Microsoft YaHe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2468880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2468880"/>
            <a:ext cx="36576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8A00"/>
                </a:solidFill>
                <a:latin typeface="Microsoft YaHei"/>
              </a:rPr>
              <a:t>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2542032"/>
            <a:ext cx="14173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ACK_ISOLATE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或超时(30s)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2697480"/>
            <a:ext cx="365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D9D9D9"/>
                </a:solidFill>
                <a:latin typeface="Microsoft YaHe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2468880"/>
            <a:ext cx="18288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2468880"/>
            <a:ext cx="36576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33333"/>
                </a:solidFill>
                <a:latin typeface="Microsoft YaHei"/>
              </a:rPr>
              <a:t>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542032"/>
            <a:ext cx="141732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remove_cpu()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→ ISOLATED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520440"/>
            <a:ext cx="104241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700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3547872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C70039"/>
                </a:solidFill>
                <a:latin typeface="Microsoft YaHei"/>
              </a:rPr>
              <a:t>紧急路径（Lockup / PCC）：</a:t>
            </a:r>
            <a:r>
              <a:rPr sz="1200" b="0">
                <a:solidFill>
                  <a:srgbClr val="333333"/>
                </a:solidFill>
                <a:latin typeface="Microsoft YaHei"/>
              </a:rPr>
              <a:t>跳过 ②③④，直接 queue_work_on(健康核) → remove_cpu()，</a:t>
            </a:r>
            <a:r>
              <a:rPr sz="1200" b="1">
                <a:solidFill>
                  <a:srgbClr val="C70039"/>
                </a:solidFill>
                <a:latin typeface="Microsoft YaHei"/>
              </a:rPr>
              <a:t>不给 daemon 等待窗口。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4389120"/>
            <a:ext cx="5349240" cy="310896"/>
          </a:xfrm>
          <a:prstGeom prst="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389120"/>
            <a:ext cx="50749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D4A0"/>
                </a:solidFill>
                <a:latin typeface="Consolas"/>
              </a:rPr>
              <a:t>kernel/core/cfi_hotplug.c  ·  隔离协议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4700016"/>
            <a:ext cx="5349240" cy="1152144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" y="4791456"/>
            <a:ext cx="503834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00">
                <a:solidFill>
                  <a:srgbClr val="E0E0E0"/>
                </a:solidFill>
                <a:latin typeface="Consolas"/>
              </a:rPr>
              <a:t>void cfi_begin_isolation(cpu, urgent) {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FF9D6B"/>
                </a:solidFill>
                <a:latin typeface="Consolas"/>
              </a:rPr>
              <a:t>  if (defer_to_daemon &amp;&amp; !urgent) {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0E0E0"/>
                </a:solidFill>
                <a:latin typeface="Consolas"/>
              </a:rPr>
              <a:t>    mod_timer(&amp;ci-&gt;defer_timer,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6BD4A0"/>
                </a:solidFill>
                <a:latin typeface="Consolas"/>
              </a:rPr>
              <a:t>      jiffies + msecs_to_jiffies(30000));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7A8B99"/>
                </a:solidFill>
                <a:latin typeface="Consolas"/>
              </a:rPr>
              <a:t>  } else { /* 紧急：直接下线 */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6BD4A0"/>
                </a:solidFill>
                <a:latin typeface="Consolas"/>
              </a:rPr>
              <a:t>    queue_work_on(healthy_cpu, ...);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0E0E0"/>
                </a:solidFill>
                <a:latin typeface="Consolas"/>
              </a:rPr>
              <a:t>  }</a:t>
            </a:r>
          </a:p>
          <a:p>
            <a:pPr>
              <a:lnSpc>
                <a:spcPct val="112000"/>
              </a:lnSpc>
            </a:pPr>
            <a:r>
              <a:rPr sz="110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389120"/>
            <a:ext cx="5166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389120"/>
            <a:ext cx="82296" cy="146304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498848"/>
            <a:ext cx="48006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5A9E"/>
                </a:solidFill>
                <a:latin typeface="Microsoft YaHei"/>
              </a:rPr>
              <a:t>▎设计取舍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4864608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• 30s 超时：足够热迁移 1 个 vCPU，不会久拖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• </a:t>
            </a:r>
            <a:r>
              <a:rPr sz="1150" b="1">
                <a:solidFill>
                  <a:srgbClr val="005A9E"/>
                </a:solidFill>
                <a:latin typeface="Microsoft YaHei"/>
              </a:rPr>
              <a:t>timer_list 兜底</a:t>
            </a:r>
            <a:r>
              <a:rPr sz="1150" b="0">
                <a:solidFill>
                  <a:srgbClr val="333333"/>
                </a:solidFill>
                <a:latin typeface="Microsoft YaHei"/>
              </a:rPr>
              <a:t>：daemon 挂掉也不会阻塞隔离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• ACK 幂等：重复 ACK 仅首次生效，del_timer_sync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• 参数化：defer_to_daemon / defer_timeout_ms 均可调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6032"/>
            <a:ext cx="109728" cy="50292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7744"/>
            <a:ext cx="18288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INIT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A1A1A"/>
                </a:solidFill>
                <a:latin typeface="Microsoft YaHei"/>
              </a:rPr>
              <a:t>攻坚点八：模块初始化编排与对称容错卸载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27432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>
                <a:solidFill>
                  <a:srgbClr val="C70039"/>
                </a:solidFill>
                <a:latin typeface="Arial"/>
              </a:rPr>
              <a:t>T8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02412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566928"/>
            <a:ext cx="8686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66666"/>
                </a:solidFill>
                <a:latin typeface="Microsoft YaHei"/>
              </a:rPr>
              <a:t>技术难度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46920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84664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22408" y="612648"/>
            <a:ext cx="182880" cy="1828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60152" y="612648"/>
            <a:ext cx="182880" cy="1828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97896" y="612648"/>
            <a:ext cx="182880" cy="1828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333333"/>
                </a:solidFill>
                <a:latin typeface="Microsoft YaHei"/>
              </a:rPr>
              <a:t>一个内核模块同时接管 panic 抑制、MCE 处理、lockup 检测、热插拔、netlink、sysfs、debugfs ——初始化顺序错一步就会漏接故障或留下不一致状态。卸载顺序同样要严格对称，确保不残留降低保护等级。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920240"/>
            <a:ext cx="5349240" cy="39319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011680"/>
            <a:ext cx="4572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Microsoft YaHei"/>
              </a:rPr>
              <a:t>加载顺序（init）    →    关键约束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423160"/>
            <a:ext cx="201168" cy="32918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423160"/>
            <a:ext cx="146304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7D32"/>
                </a:solidFill>
                <a:latin typeface="Microsoft YaHei"/>
              </a:rPr>
              <a:t>① alloc per-CPU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423160"/>
            <a:ext cx="33832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数据结构先就位，后续组件可引用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2880360"/>
            <a:ext cx="201168" cy="329184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2880360"/>
            <a:ext cx="146304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5A9E"/>
                </a:solidFill>
                <a:latin typeface="Microsoft YaHei"/>
              </a:rPr>
              <a:t>② netlink + sysfs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2880360"/>
            <a:ext cx="33832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通信通道先开，daemon 可监听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337560"/>
            <a:ext cx="201168" cy="329184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3337560"/>
            <a:ext cx="146304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5A9E"/>
                </a:solidFill>
                <a:latin typeface="Microsoft YaHei"/>
              </a:rPr>
              <a:t>③ hotplug 回调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337560"/>
            <a:ext cx="33832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感知外部 CPU 上下线事件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794760"/>
            <a:ext cx="201168" cy="329184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3794760"/>
            <a:ext cx="146304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66666"/>
                </a:solidFill>
                <a:latin typeface="Microsoft YaHei"/>
              </a:rPr>
              <a:t>④ debugfs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3794760"/>
            <a:ext cx="33832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测试注入接口（失败非致命，不阻塞）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251960"/>
            <a:ext cx="201168" cy="329184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4251960"/>
            <a:ext cx="146304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70039"/>
                </a:solidFill>
                <a:latin typeface="Microsoft YaHei"/>
              </a:rPr>
              <a:t>⑤ panic 抑制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251960"/>
            <a:ext cx="33832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提升 tolerant → 阻止 panic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4709160"/>
            <a:ext cx="201168" cy="329184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4709160"/>
            <a:ext cx="146304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70039"/>
                </a:solidFill>
                <a:latin typeface="Microsoft YaHei"/>
              </a:rPr>
              <a:t>⑥ arch 后端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4709160"/>
            <a:ext cx="33832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注册 MCE handler（此时 panic 已被拦截）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" y="5166360"/>
            <a:ext cx="201168" cy="329184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5166360"/>
            <a:ext cx="146304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8A00"/>
                </a:solidFill>
                <a:latin typeface="Microsoft YaHei"/>
              </a:rPr>
              <a:t>⑦ lockup 检测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5166360"/>
            <a:ext cx="33832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3333"/>
                </a:solidFill>
                <a:latin typeface="Microsoft YaHei"/>
              </a:rPr>
              <a:t>最后启动，所有兜底就绪才开始采集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160520"/>
            <a:ext cx="4937760" cy="320040"/>
          </a:xfrm>
          <a:prstGeom prst="rect">
            <a:avLst/>
          </a:prstGeom>
          <a:solidFill>
            <a:srgbClr val="FF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160520"/>
            <a:ext cx="4754880" cy="320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70039"/>
                </a:solidFill>
                <a:latin typeface="Microsoft YaHei"/>
              </a:rPr>
              <a:t>⑤ 必须在 ⑥ 之前：handler 注册时 panic 已被拦截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1920240"/>
            <a:ext cx="5166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1920240"/>
            <a:ext cx="82296" cy="1463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2029968"/>
            <a:ext cx="48006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7D32"/>
                </a:solidFill>
                <a:latin typeface="Microsoft YaHei"/>
              </a:rPr>
              <a:t>▎卸载顺序（exit）—— 严格反序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2395728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1">
                <a:solidFill>
                  <a:srgbClr val="2E7D32"/>
                </a:solidFill>
                <a:latin typeface="Microsoft YaHei"/>
              </a:rPr>
              <a:t>⑦→⑥→⑤→④→③→②→① 精确镜像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先停 lockup 检测（不再产生新的隔离触发）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再卸 arch handler（不再收 MCE）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最后恢复 tolerant 原值（还原内核保护等级）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474720"/>
            <a:ext cx="5166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3474720"/>
            <a:ext cx="82296" cy="1463040"/>
          </a:xfrm>
          <a:prstGeom prst="rect">
            <a:avLst/>
          </a:prstGeom>
          <a:solidFill>
            <a:srgbClr val="E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3584448"/>
            <a:ext cx="480060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8A00"/>
                </a:solidFill>
                <a:latin typeface="Microsoft YaHei"/>
              </a:rPr>
              <a:t>▎init 失败：逐级回滚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3950208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任何步骤失败 → </a:t>
            </a:r>
            <a:r>
              <a:rPr sz="1150" b="1">
                <a:solidFill>
                  <a:srgbClr val="E88A00"/>
                </a:solidFill>
                <a:latin typeface="Microsoft YaHei"/>
              </a:rPr>
              <a:t>goto err_xxx 标签链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只回滚已成功的步骤，不多不少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cancel_work_sync + del_timer_sync 确保无异步残留</a:t>
            </a:r>
          </a:p>
          <a:p>
            <a:pPr algn="l">
              <a:lnSpc>
                <a:spcPct val="116000"/>
              </a:lnSpc>
            </a:pPr>
            <a:r>
              <a:rPr sz="1150" b="0">
                <a:solidFill>
                  <a:srgbClr val="333333"/>
                </a:solidFill>
                <a:latin typeface="Microsoft YaHei"/>
              </a:rPr>
              <a:t>kvfree + list 遍历释放所有动态内存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5029200"/>
            <a:ext cx="5166360" cy="310896"/>
          </a:xfrm>
          <a:prstGeom prst="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5029200"/>
            <a:ext cx="489204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D4A0"/>
                </a:solidFill>
                <a:latin typeface="Consolas"/>
              </a:rPr>
              <a:t>cfi_main.c · goto 回滚链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5340096"/>
            <a:ext cx="5166360" cy="512064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3952" y="5431536"/>
            <a:ext cx="4855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7A8B99"/>
                </a:solidFill>
                <a:latin typeface="Consolas"/>
              </a:rPr>
              <a:t>/* 经典内核错误回滚链 */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E0E0E0"/>
                </a:solidFill>
                <a:latin typeface="Consolas"/>
              </a:rPr>
              <a:t>err_arch:  cfi_arch-&gt;exit();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FF9D6B"/>
                </a:solidFill>
                <a:latin typeface="Consolas"/>
              </a:rPr>
              <a:t>err_suppress: cfi_suppress_exit();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E0E0E0"/>
                </a:solidFill>
                <a:latin typeface="Consolas"/>
              </a:rPr>
              <a:t>err_sysfs: cfi_sysfs_exit(); ...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" cy="4114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960120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Microsoft YaHei"/>
              </a:rPr>
              <a:t>业务价值：守住 ECS SLA，收敛故障爆炸半径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27432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C70039"/>
                </a:solidFill>
                <a:latin typeface="Microsoft YaHe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2606040" cy="73152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26060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C70039"/>
                </a:solidFill>
                <a:latin typeface="Microsoft YaHei"/>
              </a:rPr>
              <a:t>100×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</a:rPr>
              <a:t>故障影响面缩小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2606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Microsoft YaHei"/>
              </a:rPr>
              <a:t>整机 → 单核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12344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234440"/>
            <a:ext cx="2606040" cy="73152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1371600"/>
            <a:ext cx="26060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C70039"/>
                </a:solidFill>
                <a:latin typeface="Microsoft YaHei"/>
              </a:rPr>
              <a:t>98%+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2194560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</a:rPr>
              <a:t>受损 ECS 数下降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560320"/>
            <a:ext cx="2606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Microsoft YaHei"/>
              </a:rPr>
              <a:t>全量 VM → 1 个 VM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5624" y="12344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5624" y="1234440"/>
            <a:ext cx="2606040" cy="73152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1371600"/>
            <a:ext cx="26060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C70039"/>
                </a:solidFill>
                <a:latin typeface="Microsoft YaHei"/>
              </a:rPr>
              <a:t>10×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5624" y="2194560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</a:rPr>
              <a:t>服务恢复加速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2560320"/>
            <a:ext cx="2606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Microsoft YaHei"/>
              </a:rPr>
              <a:t>分钟级 → 秒级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0536" y="123444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0536" y="1234440"/>
            <a:ext cx="2606040" cy="73152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0536" y="1371600"/>
            <a:ext cx="26060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C70039"/>
                </a:solidFill>
                <a:latin typeface="Microsoft YaHe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0536" y="2194560"/>
            <a:ext cx="2606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</a:rPr>
              <a:t>内核源码改动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2560320"/>
            <a:ext cx="26060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Microsoft YaHei"/>
              </a:rPr>
              <a:t>纯模块即插即用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200400"/>
            <a:ext cx="10789920" cy="242316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337560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Microsoft YaHei"/>
              </a:rPr>
              <a:t>测算示例：单数据中心 1 万台计算节点 / 年 CPU 故障率 1% / 单机 60 台 ECS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840480"/>
            <a:ext cx="10332720" cy="420624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840480"/>
            <a:ext cx="3657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指标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840480"/>
            <a:ext cx="265176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无 CFI（现状）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840480"/>
            <a:ext cx="22860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启用 CFI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3840480"/>
            <a:ext cx="18288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改善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261104"/>
            <a:ext cx="3657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年受影响 ECS 实例数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261104"/>
            <a:ext cx="265176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约 6,000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4261104"/>
            <a:ext cx="22860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约 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4261104"/>
            <a:ext cx="18288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C70039"/>
                </a:solidFill>
                <a:latin typeface="Microsoft YaHei"/>
              </a:rPr>
              <a:t>↓ 98.3%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681728"/>
            <a:ext cx="103327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681728"/>
            <a:ext cx="3657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年 SLA 违约 / 赔付事件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681728"/>
            <a:ext cx="265176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约 6,000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4681728"/>
            <a:ext cx="22860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约 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4681728"/>
            <a:ext cx="18288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C70039"/>
                </a:solidFill>
                <a:latin typeface="Microsoft YaHei"/>
              </a:rPr>
              <a:t>↓ 98.3%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102352"/>
            <a:ext cx="3657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大规模中断事件（同时 50+ VM）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102352"/>
            <a:ext cx="265176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约 100 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5102352"/>
            <a:ext cx="22860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0 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5102352"/>
            <a:ext cx="18288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C70039"/>
                </a:solidFill>
                <a:latin typeface="Microsoft YaHei"/>
              </a:rPr>
              <a:t>↓ 100%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"/>
            <a:ext cx="109728" cy="4114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960120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Microsoft YaHei"/>
              </a:rPr>
              <a:t>进展与规划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1078992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11535" y="274320"/>
            <a:ext cx="9144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C70039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70039"/>
                </a:solidFill>
                <a:latin typeface="Microsoft YaHei"/>
              </a:rPr>
              <a:t>当前进展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365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D32"/>
                </a:solidFill>
                <a:latin typeface="Microsoft Ya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00200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内核模块开发完成（x86 + 鲲鹏）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75688"/>
            <a:ext cx="365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D32"/>
                </a:solidFill>
                <a:latin typeface="Microsoft YaHe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75688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软件注入：错误计数 / 隔离全流程验证通过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51176"/>
            <a:ext cx="365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D32"/>
                </a:solidFill>
                <a:latin typeface="Microsoft Ya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551176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MCE 通路：corrected error 接收正常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26664"/>
            <a:ext cx="365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D32"/>
                </a:solidFill>
                <a:latin typeface="Microsoft Ya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26664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HCE3 适配：tolerant 直写 + FMA 接入已实现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02152"/>
            <a:ext cx="365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8A00"/>
                </a:solidFill>
                <a:latin typeface="Microsoft YaHei"/>
              </a:rPr>
              <a:t>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02152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33333"/>
                </a:solidFill>
                <a:latin typeface="Microsoft YaHei"/>
              </a:rPr>
              <a:t>HCE3 物理机 UCE 拦截端到端验证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70039"/>
                </a:solidFill>
                <a:latin typeface="Microsoft YaHei"/>
              </a:rPr>
              <a:t>落地路线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600200"/>
            <a:ext cx="822960" cy="45720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600200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v0.2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600200"/>
            <a:ext cx="4114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HCE3 物理机验证：UCE 不宕机、单核隔离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2057400"/>
            <a:ext cx="19050" cy="15544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2212848"/>
            <a:ext cx="822960" cy="45720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212848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v0.3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212848"/>
            <a:ext cx="4114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守护进程 + VM 热迁移联动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2670048"/>
            <a:ext cx="19050" cy="15544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2825496"/>
            <a:ext cx="822960" cy="45720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825496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v0.4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825496"/>
            <a:ext cx="4114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SMT/NUMA 感知，多核协同隔离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3282696"/>
            <a:ext cx="19050" cy="15544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3438144"/>
            <a:ext cx="822960" cy="4572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438144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v0.5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438144"/>
            <a:ext cx="4114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对接上层调度（弹性伸缩 / 编排）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12280" y="3895344"/>
            <a:ext cx="19050" cy="15544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46520" y="4050792"/>
            <a:ext cx="822960" cy="4572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050792"/>
            <a:ext cx="8229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v1.0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050792"/>
            <a:ext cx="4114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产品化：打包、服务化、监控大盘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5074920"/>
            <a:ext cx="10789920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5074920"/>
            <a:ext cx="109728" cy="86868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138928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C70039"/>
                </a:solidFill>
                <a:latin typeface="Microsoft YaHei"/>
              </a:rPr>
              <a:t>所需支持：</a:t>
            </a:r>
            <a:r>
              <a:rPr sz="1350" b="0">
                <a:solidFill>
                  <a:srgbClr val="333333"/>
                </a:solidFill>
                <a:latin typeface="Microsoft YaHei"/>
              </a:rPr>
              <a:t>HCE3 物理测试机资源、内核团队协同确认符号布局、SRE 真实故障场景反馈。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565392"/>
            <a:ext cx="54864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华为云基础设施  |  CPU 故障自隔离（CFI）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8335" y="6565392"/>
            <a:ext cx="365760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Microsoft YaHei"/>
              </a:rPr>
              <a:t>华为机密  Huawei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C70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</a:rPr>
              <a:t>让硬件老化不再成为云服务的风险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FFFFF"/>
                </a:solidFill>
                <a:latin typeface="Microsoft YaHei"/>
              </a:rPr>
              <a:t>单核故障  ·  自动隔离  ·  守护 ECS SLA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Microsoft YaHei"/>
              </a:rPr>
              <a:t>谢 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66666"/>
                </a:solidFill>
                <a:latin typeface="Microsoft YaHei"/>
              </a:rPr>
              <a:t>华为云  ·  基础设施  ·  弹性计算可靠性专项    |    华为机密 Huawei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