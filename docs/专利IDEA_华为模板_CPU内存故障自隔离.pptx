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29768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297680"/>
            <a:ext cx="12191695" cy="91440"/>
          </a:xfrm>
          <a:prstGeom prst="rect">
            <a:avLst/>
          </a:prstGeom>
          <a:solidFill>
            <a:srgbClr val="A30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31520"/>
            <a:ext cx="10515600" cy="457200"/>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500" b="1">
                <a:solidFill>
                  <a:srgbClr val="F4C9CF"/>
                </a:solidFill>
                <a:latin typeface="Microsoft YaHei"/>
              </a:rPr>
              <a:t>华为技术有限公司  ·  发明 IDEA</a:t>
            </a:r>
          </a:p>
        </p:txBody>
      </p:sp>
      <p:sp>
        <p:nvSpPr>
          <p:cNvPr id="6" name="TextBox 5"/>
          <p:cNvSpPr txBox="1"/>
          <p:nvPr/>
        </p:nvSpPr>
        <p:spPr>
          <a:xfrm>
            <a:off x="822960" y="1554480"/>
            <a:ext cx="10698480" cy="1737360"/>
          </a:xfrm>
          <a:prstGeom prst="rect">
            <a:avLst/>
          </a:prstGeom>
          <a:noFill/>
        </p:spPr>
        <p:txBody>
          <a:bodyPr wrap="square" anchor="t" lIns="50800" rIns="50800" tIns="25400" bIns="25400">
            <a:spAutoFit/>
          </a:bodyPr>
          <a:lstStyle/>
          <a:p>
            <a:pPr algn="l">
              <a:lnSpc>
                <a:spcPct val="118000"/>
              </a:lnSpc>
              <a:spcBef>
                <a:spcPts val="0"/>
              </a:spcBef>
              <a:spcAft>
                <a:spcPts val="300"/>
              </a:spcAft>
            </a:pPr>
            <a:r>
              <a:rPr sz="3200" b="1">
                <a:solidFill>
                  <a:srgbClr val="FFFFFF"/>
                </a:solidFill>
                <a:latin typeface="Microsoft YaHei"/>
              </a:rPr>
              <a:t>基于可加载内核模块的云宿主机</a:t>
            </a:r>
          </a:p>
          <a:p>
            <a:pPr algn="l">
              <a:lnSpc>
                <a:spcPct val="118000"/>
              </a:lnSpc>
              <a:spcBef>
                <a:spcPts val="0"/>
              </a:spcBef>
              <a:spcAft>
                <a:spcPts val="300"/>
              </a:spcAft>
            </a:pPr>
            <a:r>
              <a:rPr sz="3200" b="1">
                <a:solidFill>
                  <a:srgbClr val="FFFFFF"/>
                </a:solidFill>
                <a:latin typeface="Microsoft YaHei"/>
              </a:rPr>
              <a:t>CPU 与内存硬件故障自隔离方法及系统</a:t>
            </a:r>
          </a:p>
        </p:txBody>
      </p:sp>
      <p:sp>
        <p:nvSpPr>
          <p:cNvPr id="7" name="Rectangle 6"/>
          <p:cNvSpPr/>
          <p:nvPr/>
        </p:nvSpPr>
        <p:spPr>
          <a:xfrm>
            <a:off x="868680" y="3154680"/>
            <a:ext cx="822960" cy="38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337560"/>
            <a:ext cx="10698480" cy="548640"/>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600" b="1">
                <a:solidFill>
                  <a:srgbClr val="FFFFFF"/>
                </a:solidFill>
                <a:latin typeface="Microsoft YaHei"/>
              </a:rPr>
              <a:t>Idea 名称如上 · 单器件故障不再整机宕机，损失收敛到单核 / 单页 / 单 VM</a:t>
            </a:r>
          </a:p>
        </p:txBody>
      </p:sp>
      <p:sp>
        <p:nvSpPr>
          <p:cNvPr id="9" name="Rectangle 8"/>
          <p:cNvSpPr/>
          <p:nvPr/>
        </p:nvSpPr>
        <p:spPr>
          <a:xfrm>
            <a:off x="868680" y="4754880"/>
            <a:ext cx="164592" cy="420624"/>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754880"/>
            <a:ext cx="2743200" cy="420624"/>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1">
                <a:solidFill>
                  <a:srgbClr val="1A1A1A"/>
                </a:solidFill>
                <a:latin typeface="Microsoft YaHei"/>
              </a:rPr>
              <a:t>部门：</a:t>
            </a:r>
          </a:p>
        </p:txBody>
      </p:sp>
      <p:sp>
        <p:nvSpPr>
          <p:cNvPr id="11" name="TextBox 10"/>
          <p:cNvSpPr txBox="1"/>
          <p:nvPr/>
        </p:nvSpPr>
        <p:spPr>
          <a:xfrm>
            <a:off x="3657600" y="4754880"/>
            <a:ext cx="6858000" cy="420624"/>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0">
                <a:solidFill>
                  <a:srgbClr val="1A1A1A"/>
                </a:solidFill>
                <a:latin typeface="Microsoft YaHei"/>
              </a:rPr>
              <a:t>云通算服务产品部</a:t>
            </a:r>
          </a:p>
        </p:txBody>
      </p:sp>
      <p:sp>
        <p:nvSpPr>
          <p:cNvPr id="12" name="Rectangle 11"/>
          <p:cNvSpPr/>
          <p:nvPr/>
        </p:nvSpPr>
        <p:spPr>
          <a:xfrm>
            <a:off x="868680" y="5285232"/>
            <a:ext cx="164592" cy="420624"/>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5285232"/>
            <a:ext cx="2743200" cy="420624"/>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1">
                <a:solidFill>
                  <a:srgbClr val="1A1A1A"/>
                </a:solidFill>
                <a:latin typeface="Microsoft YaHei"/>
              </a:rPr>
              <a:t>作者姓名及工号：</a:t>
            </a:r>
          </a:p>
        </p:txBody>
      </p:sp>
      <p:sp>
        <p:nvSpPr>
          <p:cNvPr id="14" name="TextBox 13"/>
          <p:cNvSpPr txBox="1"/>
          <p:nvPr/>
        </p:nvSpPr>
        <p:spPr>
          <a:xfrm>
            <a:off x="3657600" y="5285232"/>
            <a:ext cx="6858000" cy="420624"/>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0">
                <a:solidFill>
                  <a:srgbClr val="595959"/>
                </a:solidFill>
                <a:latin typeface="Microsoft YaHei"/>
              </a:rPr>
              <a:t>（请填写）</a:t>
            </a:r>
          </a:p>
        </p:txBody>
      </p:sp>
      <p:sp>
        <p:nvSpPr>
          <p:cNvPr id="15" name="Rectangle 14"/>
          <p:cNvSpPr/>
          <p:nvPr/>
        </p:nvSpPr>
        <p:spPr>
          <a:xfrm>
            <a:off x="868680" y="5815584"/>
            <a:ext cx="164592" cy="420624"/>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5815584"/>
            <a:ext cx="2743200" cy="420624"/>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1">
                <a:solidFill>
                  <a:srgbClr val="1A1A1A"/>
                </a:solidFill>
                <a:latin typeface="Microsoft YaHei"/>
              </a:rPr>
              <a:t>日期：</a:t>
            </a:r>
          </a:p>
        </p:txBody>
      </p:sp>
      <p:sp>
        <p:nvSpPr>
          <p:cNvPr id="17" name="TextBox 16"/>
          <p:cNvSpPr txBox="1"/>
          <p:nvPr/>
        </p:nvSpPr>
        <p:spPr>
          <a:xfrm>
            <a:off x="3657600" y="5815584"/>
            <a:ext cx="6858000" cy="420624"/>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0">
                <a:solidFill>
                  <a:srgbClr val="1A1A1A"/>
                </a:solidFill>
                <a:latin typeface="Microsoft YaHei"/>
              </a:rPr>
              <a:t>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146304" cy="47548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
            <a:ext cx="10058400" cy="566928"/>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2400" b="1">
                <a:solidFill>
                  <a:srgbClr val="1A1A1A"/>
                </a:solidFill>
                <a:latin typeface="Microsoft YaHei"/>
              </a:rPr>
              <a:t>目录</a:t>
            </a:r>
          </a:p>
        </p:txBody>
      </p:sp>
      <p:sp>
        <p:nvSpPr>
          <p:cNvPr id="5" name="Rectangle 4"/>
          <p:cNvSpPr/>
          <p:nvPr/>
        </p:nvSpPr>
        <p:spPr>
          <a:xfrm>
            <a:off x="731520" y="950976"/>
            <a:ext cx="10725912" cy="254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0" y="384048"/>
            <a:ext cx="1965960" cy="365760"/>
          </a:xfrm>
          <a:prstGeom prst="rect">
            <a:avLst/>
          </a:prstGeom>
          <a:noFill/>
        </p:spPr>
        <p:txBody>
          <a:bodyPr wrap="square" anchor="ctr" lIns="50800" rIns="50800" tIns="25400" bIns="25400">
            <a:spAutoFit/>
          </a:bodyPr>
          <a:lstStyle/>
          <a:p>
            <a:pPr algn="r">
              <a:lnSpc>
                <a:spcPct val="100000"/>
              </a:lnSpc>
              <a:spcBef>
                <a:spcPts val="0"/>
              </a:spcBef>
              <a:spcAft>
                <a:spcPts val="300"/>
              </a:spcAft>
            </a:pPr>
            <a:r>
              <a:rPr sz="1100" b="0">
                <a:solidFill>
                  <a:srgbClr val="595959"/>
                </a:solidFill>
                <a:latin typeface="Microsoft YaHei"/>
              </a:rPr>
              <a:t>专利 IDEA</a:t>
            </a:r>
          </a:p>
        </p:txBody>
      </p:sp>
      <p:sp>
        <p:nvSpPr>
          <p:cNvPr id="7" name="Rectangle 6"/>
          <p:cNvSpPr/>
          <p:nvPr/>
        </p:nvSpPr>
        <p:spPr>
          <a:xfrm>
            <a:off x="822960" y="1417320"/>
            <a:ext cx="5120640" cy="71323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417320"/>
            <a:ext cx="713232" cy="713232"/>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417320"/>
            <a:ext cx="713232" cy="713232"/>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2000" b="1">
                <a:solidFill>
                  <a:srgbClr val="FFFFFF"/>
                </a:solidFill>
                <a:latin typeface="Microsoft YaHei"/>
              </a:rPr>
              <a:t>01</a:t>
            </a:r>
          </a:p>
        </p:txBody>
      </p:sp>
      <p:sp>
        <p:nvSpPr>
          <p:cNvPr id="10" name="TextBox 9"/>
          <p:cNvSpPr txBox="1"/>
          <p:nvPr/>
        </p:nvSpPr>
        <p:spPr>
          <a:xfrm>
            <a:off x="1691640" y="1417320"/>
            <a:ext cx="4114800" cy="713232"/>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1">
                <a:solidFill>
                  <a:srgbClr val="1A1A1A"/>
                </a:solidFill>
                <a:latin typeface="Microsoft YaHei"/>
              </a:rPr>
              <a:t>IDEA 合规检查</a:t>
            </a:r>
          </a:p>
        </p:txBody>
      </p:sp>
      <p:sp>
        <p:nvSpPr>
          <p:cNvPr id="11" name="Rectangle 10"/>
          <p:cNvSpPr/>
          <p:nvPr/>
        </p:nvSpPr>
        <p:spPr>
          <a:xfrm>
            <a:off x="822960" y="2286000"/>
            <a:ext cx="5120640" cy="71323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286000"/>
            <a:ext cx="713232" cy="713232"/>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286000"/>
            <a:ext cx="713232" cy="713232"/>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2000" b="1">
                <a:solidFill>
                  <a:srgbClr val="FFFFFF"/>
                </a:solidFill>
                <a:latin typeface="Microsoft YaHei"/>
              </a:rPr>
              <a:t>02</a:t>
            </a:r>
          </a:p>
        </p:txBody>
      </p:sp>
      <p:sp>
        <p:nvSpPr>
          <p:cNvPr id="14" name="TextBox 13"/>
          <p:cNvSpPr txBox="1"/>
          <p:nvPr/>
        </p:nvSpPr>
        <p:spPr>
          <a:xfrm>
            <a:off x="1691640" y="2286000"/>
            <a:ext cx="4114800" cy="713232"/>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1">
                <a:solidFill>
                  <a:srgbClr val="1A1A1A"/>
                </a:solidFill>
                <a:latin typeface="Microsoft YaHei"/>
              </a:rPr>
              <a:t>Idea 产生的背景与现有技术</a:t>
            </a:r>
          </a:p>
        </p:txBody>
      </p:sp>
      <p:sp>
        <p:nvSpPr>
          <p:cNvPr id="15" name="Rectangle 14"/>
          <p:cNvSpPr/>
          <p:nvPr/>
        </p:nvSpPr>
        <p:spPr>
          <a:xfrm>
            <a:off x="822960" y="3154680"/>
            <a:ext cx="5120640" cy="71323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3154680"/>
            <a:ext cx="713232" cy="713232"/>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154680"/>
            <a:ext cx="713232" cy="713232"/>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2000" b="1">
                <a:solidFill>
                  <a:srgbClr val="FFFFFF"/>
                </a:solidFill>
                <a:latin typeface="Microsoft YaHei"/>
              </a:rPr>
              <a:t>03</a:t>
            </a:r>
          </a:p>
        </p:txBody>
      </p:sp>
      <p:sp>
        <p:nvSpPr>
          <p:cNvPr id="18" name="TextBox 17"/>
          <p:cNvSpPr txBox="1"/>
          <p:nvPr/>
        </p:nvSpPr>
        <p:spPr>
          <a:xfrm>
            <a:off x="1691640" y="3154680"/>
            <a:ext cx="4114800" cy="713232"/>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1">
                <a:solidFill>
                  <a:srgbClr val="1A1A1A"/>
                </a:solidFill>
                <a:latin typeface="Microsoft YaHei"/>
              </a:rPr>
              <a:t>本 Idea 的技术方案</a:t>
            </a:r>
          </a:p>
        </p:txBody>
      </p:sp>
      <p:sp>
        <p:nvSpPr>
          <p:cNvPr id="19" name="Rectangle 18"/>
          <p:cNvSpPr/>
          <p:nvPr/>
        </p:nvSpPr>
        <p:spPr>
          <a:xfrm>
            <a:off x="822960" y="4023360"/>
            <a:ext cx="5120640" cy="71323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4023360"/>
            <a:ext cx="713232" cy="713232"/>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023360"/>
            <a:ext cx="713232" cy="713232"/>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2000" b="1">
                <a:solidFill>
                  <a:srgbClr val="FFFFFF"/>
                </a:solidFill>
                <a:latin typeface="Microsoft YaHei"/>
              </a:rPr>
              <a:t>04</a:t>
            </a:r>
          </a:p>
        </p:txBody>
      </p:sp>
      <p:sp>
        <p:nvSpPr>
          <p:cNvPr id="22" name="TextBox 21"/>
          <p:cNvSpPr txBox="1"/>
          <p:nvPr/>
        </p:nvSpPr>
        <p:spPr>
          <a:xfrm>
            <a:off x="1691640" y="4023360"/>
            <a:ext cx="4114800" cy="713232"/>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1">
                <a:solidFill>
                  <a:srgbClr val="1A1A1A"/>
                </a:solidFill>
                <a:latin typeface="Microsoft YaHei"/>
              </a:rPr>
              <a:t>本 Idea 的技术保护点</a:t>
            </a:r>
          </a:p>
        </p:txBody>
      </p:sp>
      <p:sp>
        <p:nvSpPr>
          <p:cNvPr id="23" name="Rectangle 22"/>
          <p:cNvSpPr/>
          <p:nvPr/>
        </p:nvSpPr>
        <p:spPr>
          <a:xfrm>
            <a:off x="6400800" y="1417320"/>
            <a:ext cx="5120640" cy="71323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1417320"/>
            <a:ext cx="713232" cy="713232"/>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1417320"/>
            <a:ext cx="713232" cy="713232"/>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2000" b="1">
                <a:solidFill>
                  <a:srgbClr val="FFFFFF"/>
                </a:solidFill>
                <a:latin typeface="Microsoft YaHei"/>
              </a:rPr>
              <a:t>05</a:t>
            </a:r>
          </a:p>
        </p:txBody>
      </p:sp>
      <p:sp>
        <p:nvSpPr>
          <p:cNvPr id="26" name="TextBox 25"/>
          <p:cNvSpPr txBox="1"/>
          <p:nvPr/>
        </p:nvSpPr>
        <p:spPr>
          <a:xfrm>
            <a:off x="7269480" y="1417320"/>
            <a:ext cx="4114800" cy="713232"/>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1">
                <a:solidFill>
                  <a:srgbClr val="1A1A1A"/>
                </a:solidFill>
                <a:latin typeface="Microsoft YaHei"/>
              </a:rPr>
              <a:t>本 Idea 的技术效果</a:t>
            </a:r>
          </a:p>
        </p:txBody>
      </p:sp>
      <p:sp>
        <p:nvSpPr>
          <p:cNvPr id="27" name="Rectangle 26"/>
          <p:cNvSpPr/>
          <p:nvPr/>
        </p:nvSpPr>
        <p:spPr>
          <a:xfrm>
            <a:off x="6400800" y="2286000"/>
            <a:ext cx="5120640" cy="71323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2286000"/>
            <a:ext cx="713232" cy="713232"/>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2286000"/>
            <a:ext cx="713232" cy="713232"/>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2000" b="1">
                <a:solidFill>
                  <a:srgbClr val="FFFFFF"/>
                </a:solidFill>
                <a:latin typeface="Microsoft YaHei"/>
              </a:rPr>
              <a:t>06</a:t>
            </a:r>
          </a:p>
        </p:txBody>
      </p:sp>
      <p:sp>
        <p:nvSpPr>
          <p:cNvPr id="30" name="TextBox 29"/>
          <p:cNvSpPr txBox="1"/>
          <p:nvPr/>
        </p:nvSpPr>
        <p:spPr>
          <a:xfrm>
            <a:off x="7269480" y="2286000"/>
            <a:ext cx="4114800" cy="713232"/>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1">
                <a:solidFill>
                  <a:srgbClr val="1A1A1A"/>
                </a:solidFill>
                <a:latin typeface="Microsoft YaHei"/>
              </a:rPr>
              <a:t>本 Idea 的取证方法</a:t>
            </a:r>
          </a:p>
        </p:txBody>
      </p:sp>
      <p:sp>
        <p:nvSpPr>
          <p:cNvPr id="31" name="Rectangle 30"/>
          <p:cNvSpPr/>
          <p:nvPr/>
        </p:nvSpPr>
        <p:spPr>
          <a:xfrm>
            <a:off x="6400800" y="3154680"/>
            <a:ext cx="5120640" cy="71323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0" y="3154680"/>
            <a:ext cx="713232" cy="713232"/>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154680"/>
            <a:ext cx="713232" cy="713232"/>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2000" b="1">
                <a:solidFill>
                  <a:srgbClr val="FFFFFF"/>
                </a:solidFill>
                <a:latin typeface="Microsoft YaHei"/>
              </a:rPr>
              <a:t>07</a:t>
            </a:r>
          </a:p>
        </p:txBody>
      </p:sp>
      <p:sp>
        <p:nvSpPr>
          <p:cNvPr id="34" name="TextBox 33"/>
          <p:cNvSpPr txBox="1"/>
          <p:nvPr/>
        </p:nvSpPr>
        <p:spPr>
          <a:xfrm>
            <a:off x="7269480" y="3154680"/>
            <a:ext cx="4114800" cy="713232"/>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600" b="1">
                <a:solidFill>
                  <a:srgbClr val="1A1A1A"/>
                </a:solidFill>
                <a:latin typeface="Microsoft YaHei"/>
              </a:rPr>
              <a:t>在先公开的对比文件检索情况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146304" cy="47548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
            <a:ext cx="10058400" cy="566928"/>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2400" b="1">
                <a:solidFill>
                  <a:srgbClr val="1A1A1A"/>
                </a:solidFill>
                <a:latin typeface="Microsoft YaHei"/>
              </a:rPr>
              <a:t>IDEA 合规检查 — 全部通过才能提交 IDEA</a:t>
            </a:r>
          </a:p>
        </p:txBody>
      </p:sp>
      <p:sp>
        <p:nvSpPr>
          <p:cNvPr id="5" name="Rectangle 4"/>
          <p:cNvSpPr/>
          <p:nvPr/>
        </p:nvSpPr>
        <p:spPr>
          <a:xfrm>
            <a:off x="731520" y="950976"/>
            <a:ext cx="10725912" cy="254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0" y="384048"/>
            <a:ext cx="1965960" cy="365760"/>
          </a:xfrm>
          <a:prstGeom prst="rect">
            <a:avLst/>
          </a:prstGeom>
          <a:noFill/>
        </p:spPr>
        <p:txBody>
          <a:bodyPr wrap="square" anchor="ctr" lIns="50800" rIns="50800" tIns="25400" bIns="25400">
            <a:spAutoFit/>
          </a:bodyPr>
          <a:lstStyle/>
          <a:p>
            <a:pPr algn="r">
              <a:lnSpc>
                <a:spcPct val="100000"/>
              </a:lnSpc>
              <a:spcBef>
                <a:spcPts val="0"/>
              </a:spcBef>
              <a:spcAft>
                <a:spcPts val="300"/>
              </a:spcAft>
            </a:pPr>
            <a:r>
              <a:rPr sz="1100" b="0">
                <a:solidFill>
                  <a:srgbClr val="595959"/>
                </a:solidFill>
                <a:latin typeface="Microsoft YaHei"/>
              </a:rPr>
              <a:t>专利 IDEA</a:t>
            </a:r>
          </a:p>
        </p:txBody>
      </p:sp>
      <p:sp>
        <p:nvSpPr>
          <p:cNvPr id="7" name="TextBox 6"/>
          <p:cNvSpPr txBox="1"/>
          <p:nvPr/>
        </p:nvSpPr>
        <p:spPr>
          <a:xfrm>
            <a:off x="731520" y="1024128"/>
            <a:ext cx="10725912" cy="548640"/>
          </a:xfrm>
          <a:prstGeom prst="rect">
            <a:avLst/>
          </a:prstGeom>
          <a:noFill/>
        </p:spPr>
        <p:txBody>
          <a:bodyPr wrap="square" anchor="t" lIns="50800" rIns="50800" tIns="25400" bIns="25400">
            <a:spAutoFit/>
          </a:bodyPr>
          <a:lstStyle/>
          <a:p>
            <a:pPr algn="l">
              <a:lnSpc>
                <a:spcPct val="105000"/>
              </a:lnSpc>
              <a:spcBef>
                <a:spcPts val="0"/>
              </a:spcBef>
              <a:spcAft>
                <a:spcPts val="300"/>
              </a:spcAft>
            </a:pPr>
            <a:r>
              <a:rPr sz="1200" b="0">
                <a:solidFill>
                  <a:srgbClr val="595959"/>
                </a:solidFill>
                <a:latin typeface="Microsoft YaHei"/>
              </a:rPr>
              <a:t>请按照如下检查项自检，无需填写自检结果；若自检不通过请勿提交 Idea，自检全部通过后方可提交 Idea。</a:t>
            </a:r>
          </a:p>
          <a:p>
            <a:pPr algn="l">
              <a:lnSpc>
                <a:spcPct val="105000"/>
              </a:lnSpc>
              <a:spcBef>
                <a:spcPts val="0"/>
              </a:spcBef>
              <a:spcAft>
                <a:spcPts val="300"/>
              </a:spcAft>
            </a:pPr>
            <a:r>
              <a:rPr sz="1200" b="1">
                <a:solidFill>
                  <a:srgbClr val="CF0A2C"/>
                </a:solidFill>
                <a:latin typeface="Microsoft YaHei"/>
              </a:rPr>
              <a:t>提交时请勿删除本页。  自检问题：Idea 是否涉及在外部交流、技术合作、产品合作、采购等场景中从他人获取到的信息？</a:t>
            </a:r>
          </a:p>
        </p:txBody>
      </p:sp>
      <p:sp>
        <p:nvSpPr>
          <p:cNvPr id="8" name="Rectangle 7"/>
          <p:cNvSpPr/>
          <p:nvPr/>
        </p:nvSpPr>
        <p:spPr>
          <a:xfrm>
            <a:off x="731520" y="1627632"/>
            <a:ext cx="2468880" cy="36576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627632"/>
            <a:ext cx="2340864" cy="36576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050" b="1">
                <a:solidFill>
                  <a:srgbClr val="FFFFFF"/>
                </a:solidFill>
                <a:latin typeface="Microsoft YaHei"/>
              </a:rPr>
              <a:t>检查项类型</a:t>
            </a:r>
          </a:p>
        </p:txBody>
      </p:sp>
      <p:sp>
        <p:nvSpPr>
          <p:cNvPr id="10" name="Rectangle 9"/>
          <p:cNvSpPr/>
          <p:nvPr/>
        </p:nvSpPr>
        <p:spPr>
          <a:xfrm>
            <a:off x="3200400" y="1627632"/>
            <a:ext cx="8257031" cy="36576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64408" y="1627632"/>
            <a:ext cx="8129015" cy="36576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050" b="1">
                <a:solidFill>
                  <a:srgbClr val="FFFFFF"/>
                </a:solidFill>
                <a:latin typeface="Microsoft YaHei"/>
              </a:rPr>
              <a:t>检查结果项</a:t>
            </a:r>
          </a:p>
        </p:txBody>
      </p:sp>
      <p:sp>
        <p:nvSpPr>
          <p:cNvPr id="12" name="Rectangle 11"/>
          <p:cNvSpPr/>
          <p:nvPr/>
        </p:nvSpPr>
        <p:spPr>
          <a:xfrm>
            <a:off x="731520" y="1993392"/>
            <a:ext cx="2468880"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1993392"/>
            <a:ext cx="234086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是否直接引用外来非公开信息</a:t>
            </a:r>
          </a:p>
        </p:txBody>
      </p:sp>
      <p:sp>
        <p:nvSpPr>
          <p:cNvPr id="14" name="Rectangle 13"/>
          <p:cNvSpPr/>
          <p:nvPr/>
        </p:nvSpPr>
        <p:spPr>
          <a:xfrm>
            <a:off x="3200400" y="1993392"/>
            <a:ext cx="8257031"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64408" y="1993392"/>
            <a:ext cx="8129015"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不涉及在外部交流/技术合作/产品合作/采购等场景中从他人获取的外来非公开信息（“外非信息”），包括他人资料、仿真数据、测试结果、模型图、原理图、器件结构图、软件算法及其他非公开技术方案；不引入带他人标志或保密标识/水印的图片或资料</a:t>
            </a:r>
          </a:p>
        </p:txBody>
      </p:sp>
      <p:sp>
        <p:nvSpPr>
          <p:cNvPr id="16" name="Rectangle 15"/>
          <p:cNvSpPr/>
          <p:nvPr/>
        </p:nvSpPr>
        <p:spPr>
          <a:xfrm>
            <a:off x="731520" y="2834640"/>
            <a:ext cx="2468880" cy="603504"/>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2834640"/>
            <a:ext cx="2340864" cy="603504"/>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是否以外来非公开信息为基础进行改进</a:t>
            </a:r>
          </a:p>
        </p:txBody>
      </p:sp>
      <p:sp>
        <p:nvSpPr>
          <p:cNvPr id="18" name="Rectangle 17"/>
          <p:cNvSpPr/>
          <p:nvPr/>
        </p:nvSpPr>
        <p:spPr>
          <a:xfrm>
            <a:off x="3200400" y="2834640"/>
            <a:ext cx="8257031" cy="603504"/>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64408" y="2834640"/>
            <a:ext cx="8129015" cy="603504"/>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不存在以外非信息的技术方案或技术构思为基础或主要设计参考而提出的改进方案；背景技术中亦不引入外非信息</a:t>
            </a:r>
          </a:p>
        </p:txBody>
      </p:sp>
      <p:sp>
        <p:nvSpPr>
          <p:cNvPr id="20" name="Rectangle 19"/>
          <p:cNvSpPr/>
          <p:nvPr/>
        </p:nvSpPr>
        <p:spPr>
          <a:xfrm>
            <a:off x="731520" y="3438144"/>
            <a:ext cx="2468880" cy="7498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3438144"/>
            <a:ext cx="234086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是否涉及外网引入</a:t>
            </a:r>
          </a:p>
        </p:txBody>
      </p:sp>
      <p:sp>
        <p:nvSpPr>
          <p:cNvPr id="22" name="Rectangle 21"/>
          <p:cNvSpPr/>
          <p:nvPr/>
        </p:nvSpPr>
        <p:spPr>
          <a:xfrm>
            <a:off x="3200400" y="3438144"/>
            <a:ext cx="8257031" cy="7498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64408" y="3438144"/>
            <a:ext cx="8129015"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不涉及从外部网站下载的有保密义务和/或使用限制的信息（如在线签署保密协议/最终用户协议中限制分发或商业使用）；不涉及利用个人注册账号等途径从外部网站下载的非公开信息</a:t>
            </a:r>
          </a:p>
        </p:txBody>
      </p:sp>
      <p:sp>
        <p:nvSpPr>
          <p:cNvPr id="24" name="Rectangle 23"/>
          <p:cNvSpPr/>
          <p:nvPr/>
        </p:nvSpPr>
        <p:spPr>
          <a:xfrm>
            <a:off x="731520" y="4187952"/>
            <a:ext cx="2468880" cy="47548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4187952"/>
            <a:ext cx="2340864" cy="47548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职务成果归属</a:t>
            </a:r>
          </a:p>
        </p:txBody>
      </p:sp>
      <p:sp>
        <p:nvSpPr>
          <p:cNvPr id="26" name="Rectangle 25"/>
          <p:cNvSpPr/>
          <p:nvPr/>
        </p:nvSpPr>
        <p:spPr>
          <a:xfrm>
            <a:off x="3200400" y="4187952"/>
            <a:ext cx="8257031" cy="47548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64408" y="4187952"/>
            <a:ext cx="8129015" cy="47548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所涉及的发明方案 100% 属于发明人在华为的职务成果，不涉及前雇主/前研究机构/学校的职务成果</a:t>
            </a:r>
          </a:p>
        </p:txBody>
      </p:sp>
      <p:sp>
        <p:nvSpPr>
          <p:cNvPr id="28" name="Rectangle 27"/>
          <p:cNvSpPr/>
          <p:nvPr/>
        </p:nvSpPr>
        <p:spPr>
          <a:xfrm>
            <a:off x="731520" y="4663440"/>
            <a:ext cx="2468880"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4663440"/>
            <a:ext cx="234086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其他</a:t>
            </a:r>
          </a:p>
        </p:txBody>
      </p:sp>
      <p:sp>
        <p:nvSpPr>
          <p:cNvPr id="30" name="Rectangle 29"/>
          <p:cNvSpPr/>
          <p:nvPr/>
        </p:nvSpPr>
        <p:spPr>
          <a:xfrm>
            <a:off x="3200400" y="4663440"/>
            <a:ext cx="8257031"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64408" y="4663440"/>
            <a:ext cx="8129015"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使用的技术材料不来自其他部门/其他产品线或关联公司，不包括来源不明或无法确定是否属于外非信息的图片及资料；不涉及其他公司私有协议/接口/标准；不涉及通过对未上市产品或软件拆解、反编译、反汇编等手段获取的信息</a:t>
            </a:r>
          </a:p>
        </p:txBody>
      </p:sp>
      <p:sp>
        <p:nvSpPr>
          <p:cNvPr id="32" name="Rectangle 31"/>
          <p:cNvSpPr/>
          <p:nvPr/>
        </p:nvSpPr>
        <p:spPr>
          <a:xfrm>
            <a:off x="731520" y="5504688"/>
            <a:ext cx="2468880" cy="457200"/>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 y="5504688"/>
            <a:ext cx="2340864" cy="457200"/>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是否涉及出口管制</a:t>
            </a:r>
          </a:p>
        </p:txBody>
      </p:sp>
      <p:sp>
        <p:nvSpPr>
          <p:cNvPr id="34" name="Rectangle 33"/>
          <p:cNvSpPr/>
          <p:nvPr/>
        </p:nvSpPr>
        <p:spPr>
          <a:xfrm>
            <a:off x="3200400" y="5504688"/>
            <a:ext cx="8257031" cy="457200"/>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64408" y="5504688"/>
            <a:ext cx="8129015" cy="457200"/>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若含海外发明人，确认：(a) 技术未达到出口管制规格，或 (b) 已达到但已获得相应出口许可</a:t>
            </a:r>
          </a:p>
        </p:txBody>
      </p:sp>
      <p:sp>
        <p:nvSpPr>
          <p:cNvPr id="36" name="Rectangle 35"/>
          <p:cNvSpPr/>
          <p:nvPr/>
        </p:nvSpPr>
        <p:spPr>
          <a:xfrm>
            <a:off x="731520" y="5961888"/>
            <a:ext cx="2468880" cy="40233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8" y="5961888"/>
            <a:ext cx="2340864" cy="402336"/>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发明人信息是否准确</a:t>
            </a:r>
          </a:p>
        </p:txBody>
      </p:sp>
      <p:sp>
        <p:nvSpPr>
          <p:cNvPr id="38" name="Rectangle 37"/>
          <p:cNvSpPr/>
          <p:nvPr/>
        </p:nvSpPr>
        <p:spPr>
          <a:xfrm>
            <a:off x="3200400" y="5961888"/>
            <a:ext cx="8257031" cy="40233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64408" y="5961888"/>
            <a:ext cx="8129015" cy="402336"/>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列出的每个发明人都必须对本发明作出了实质性贡献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146304" cy="47548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
            <a:ext cx="10058400" cy="566928"/>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2400" b="1">
                <a:solidFill>
                  <a:srgbClr val="1A1A1A"/>
                </a:solidFill>
                <a:latin typeface="Microsoft YaHei"/>
              </a:rPr>
              <a:t>Idea 产生的背景与现有技术</a:t>
            </a:r>
          </a:p>
        </p:txBody>
      </p:sp>
      <p:sp>
        <p:nvSpPr>
          <p:cNvPr id="5" name="Rectangle 4"/>
          <p:cNvSpPr/>
          <p:nvPr/>
        </p:nvSpPr>
        <p:spPr>
          <a:xfrm>
            <a:off x="731520" y="950976"/>
            <a:ext cx="10725912" cy="254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0" y="384048"/>
            <a:ext cx="1965960" cy="365760"/>
          </a:xfrm>
          <a:prstGeom prst="rect">
            <a:avLst/>
          </a:prstGeom>
          <a:noFill/>
        </p:spPr>
        <p:txBody>
          <a:bodyPr wrap="square" anchor="ctr" lIns="50800" rIns="50800" tIns="25400" bIns="25400">
            <a:spAutoFit/>
          </a:bodyPr>
          <a:lstStyle/>
          <a:p>
            <a:pPr algn="r">
              <a:lnSpc>
                <a:spcPct val="100000"/>
              </a:lnSpc>
              <a:spcBef>
                <a:spcPts val="0"/>
              </a:spcBef>
              <a:spcAft>
                <a:spcPts val="300"/>
              </a:spcAft>
            </a:pPr>
            <a:r>
              <a:rPr sz="1100" b="0">
                <a:solidFill>
                  <a:srgbClr val="595959"/>
                </a:solidFill>
                <a:latin typeface="Microsoft YaHei"/>
              </a:rPr>
              <a:t>专利 IDEA</a:t>
            </a:r>
          </a:p>
        </p:txBody>
      </p:sp>
      <p:sp>
        <p:nvSpPr>
          <p:cNvPr id="7" name="TextBox 6"/>
          <p:cNvSpPr txBox="1"/>
          <p:nvPr/>
        </p:nvSpPr>
        <p:spPr>
          <a:xfrm>
            <a:off x="731520" y="1097280"/>
            <a:ext cx="10881360" cy="365760"/>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600" b="1">
                <a:solidFill>
                  <a:srgbClr val="CF0A2C"/>
                </a:solidFill>
                <a:latin typeface="Microsoft YaHei"/>
              </a:rPr>
              <a:t>一、问题根源</a:t>
            </a:r>
          </a:p>
        </p:txBody>
      </p:sp>
      <p:sp>
        <p:nvSpPr>
          <p:cNvPr id="8" name="TextBox 7"/>
          <p:cNvSpPr txBox="1"/>
          <p:nvPr/>
        </p:nvSpPr>
        <p:spPr>
          <a:xfrm>
            <a:off x="731520" y="1463040"/>
            <a:ext cx="10881360" cy="914400"/>
          </a:xfrm>
          <a:prstGeom prst="rect">
            <a:avLst/>
          </a:prstGeom>
          <a:noFill/>
        </p:spPr>
        <p:txBody>
          <a:bodyPr wrap="square" anchor="t" lIns="50800" rIns="50800" tIns="25400" bIns="25400">
            <a:spAutoFit/>
          </a:bodyPr>
          <a:lstStyle/>
          <a:p>
            <a:pPr algn="l">
              <a:lnSpc>
                <a:spcPct val="112000"/>
              </a:lnSpc>
              <a:spcBef>
                <a:spcPts val="0"/>
              </a:spcBef>
              <a:spcAft>
                <a:spcPts val="300"/>
              </a:spcAft>
            </a:pPr>
            <a:r>
              <a:rPr sz="1300" b="0">
                <a:solidFill>
                  <a:srgbClr val="1A1A1A"/>
                </a:solidFill>
                <a:latin typeface="Microsoft YaHei"/>
              </a:rPr>
              <a:t>公有云宿主机单机承载上百个 VM。CPU 缓存/TLB/总线或内存器件出现不可纠正错误（UCE）时，Linux 在 do_machine_check() 早期即调用 mce_panic() 整机宕机——单个器件的局部故障牵连整机全部 VM 掉线，故障爆炸半径被放大到整机；且事件在 panic 时刻来不及进入可处置的解码链。</a:t>
            </a:r>
          </a:p>
          <a:p>
            <a:pPr algn="l">
              <a:lnSpc>
                <a:spcPct val="112000"/>
              </a:lnSpc>
              <a:spcBef>
                <a:spcPts val="0"/>
              </a:spcBef>
              <a:spcAft>
                <a:spcPts val="300"/>
              </a:spcAft>
            </a:pPr>
            <a:r>
              <a:rPr sz="1300" b="0">
                <a:solidFill>
                  <a:srgbClr val="595959"/>
                </a:solidFill>
                <a:latin typeface="Microsoft YaHei"/>
              </a:rPr>
              <a:t>约束：机型异构（x86/鲲鹏 arm64）、内核碎片化（upstream 与 vendor 内核并存、关键符号未导出、无 sysfs）、vendor 内核 CPU 热插拔回调链存在硬死锁、且不能为每个内核版本改源码重发。</a:t>
            </a:r>
          </a:p>
        </p:txBody>
      </p:sp>
      <p:sp>
        <p:nvSpPr>
          <p:cNvPr id="9" name="TextBox 8"/>
          <p:cNvSpPr txBox="1"/>
          <p:nvPr/>
        </p:nvSpPr>
        <p:spPr>
          <a:xfrm>
            <a:off x="731520" y="2971800"/>
            <a:ext cx="10881360" cy="365760"/>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600" b="1">
                <a:solidFill>
                  <a:srgbClr val="CF0A2C"/>
                </a:solidFill>
                <a:latin typeface="Microsoft YaHei"/>
              </a:rPr>
              <a:t>二、最相关的现有技术及其技术问题</a:t>
            </a:r>
          </a:p>
        </p:txBody>
      </p:sp>
      <p:sp>
        <p:nvSpPr>
          <p:cNvPr id="10" name="Rectangle 9"/>
          <p:cNvSpPr/>
          <p:nvPr/>
        </p:nvSpPr>
        <p:spPr>
          <a:xfrm>
            <a:off x="731520" y="3383280"/>
            <a:ext cx="3200400" cy="384048"/>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3383280"/>
            <a:ext cx="3072384" cy="384048"/>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100" b="1">
                <a:solidFill>
                  <a:srgbClr val="FFFFFF"/>
                </a:solidFill>
                <a:latin typeface="Microsoft YaHei"/>
              </a:rPr>
              <a:t>现有技术</a:t>
            </a:r>
          </a:p>
        </p:txBody>
      </p:sp>
      <p:sp>
        <p:nvSpPr>
          <p:cNvPr id="12" name="Rectangle 11"/>
          <p:cNvSpPr/>
          <p:nvPr/>
        </p:nvSpPr>
        <p:spPr>
          <a:xfrm>
            <a:off x="3931920" y="3383280"/>
            <a:ext cx="3931920" cy="384048"/>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95928" y="3383280"/>
            <a:ext cx="3803904" cy="384048"/>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100" b="1">
                <a:solidFill>
                  <a:srgbClr val="FFFFFF"/>
                </a:solidFill>
                <a:latin typeface="Microsoft YaHei"/>
              </a:rPr>
              <a:t>技术方案</a:t>
            </a:r>
          </a:p>
        </p:txBody>
      </p:sp>
      <p:sp>
        <p:nvSpPr>
          <p:cNvPr id="14" name="Rectangle 13"/>
          <p:cNvSpPr/>
          <p:nvPr/>
        </p:nvSpPr>
        <p:spPr>
          <a:xfrm>
            <a:off x="7863840" y="3383280"/>
            <a:ext cx="3593592" cy="384048"/>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27848" y="3383280"/>
            <a:ext cx="3465576" cy="384048"/>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100" b="1">
                <a:solidFill>
                  <a:srgbClr val="FFFFFF"/>
                </a:solidFill>
                <a:latin typeface="Microsoft YaHei"/>
              </a:rPr>
              <a:t>客观存在的技术问题（本发明拟解决）</a:t>
            </a:r>
          </a:p>
        </p:txBody>
      </p:sp>
      <p:sp>
        <p:nvSpPr>
          <p:cNvPr id="16" name="Rectangle 15"/>
          <p:cNvSpPr/>
          <p:nvPr/>
        </p:nvSpPr>
        <p:spPr>
          <a:xfrm>
            <a:off x="731520" y="3767328"/>
            <a:ext cx="3200400"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767328"/>
            <a:ext cx="307238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US 11829265 / US 11385974
（VM 宿主机内存 UCE 恢复）</a:t>
            </a:r>
          </a:p>
        </p:txBody>
      </p:sp>
      <p:sp>
        <p:nvSpPr>
          <p:cNvPr id="18" name="Rectangle 17"/>
          <p:cNvSpPr/>
          <p:nvPr/>
        </p:nvSpPr>
        <p:spPr>
          <a:xfrm>
            <a:off x="3931920" y="3767328"/>
            <a:ext cx="3931920"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95928" y="3767328"/>
            <a:ext cx="380390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内核内置 MCE handler 识别内核访问 guest 内存的 UCE，通知 VMM 注入模拟 MCE / 迁移 VM 替代 panic</a:t>
            </a:r>
          </a:p>
        </p:txBody>
      </p:sp>
      <p:sp>
        <p:nvSpPr>
          <p:cNvPr id="20" name="Rectangle 19"/>
          <p:cNvSpPr/>
          <p:nvPr/>
        </p:nvSpPr>
        <p:spPr>
          <a:xfrm>
            <a:off x="7863840" y="3767328"/>
            <a:ext cx="3593592"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27848" y="3767328"/>
            <a:ext cx="3465576"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A30822"/>
                </a:solidFill>
                <a:latin typeface="Microsoft YaHei"/>
              </a:rPr>
              <a:t>仅覆盖内存、不处理 cache/核心故障；逻辑内嵌内核需随版本定制维护，成本高；不隔离物理核</a:t>
            </a:r>
          </a:p>
        </p:txBody>
      </p:sp>
      <p:sp>
        <p:nvSpPr>
          <p:cNvPr id="22" name="Rectangle 21"/>
          <p:cNvSpPr/>
          <p:nvPr/>
        </p:nvSpPr>
        <p:spPr>
          <a:xfrm>
            <a:off x="731520" y="4608576"/>
            <a:ext cx="3200400" cy="84124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4608576"/>
            <a:ext cx="307238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US 12222830 / 11847036 / 11531607
（失效从核 CPU 故障隔离，AMP）</a:t>
            </a:r>
          </a:p>
        </p:txBody>
      </p:sp>
      <p:sp>
        <p:nvSpPr>
          <p:cNvPr id="24" name="Rectangle 23"/>
          <p:cNvSpPr/>
          <p:nvPr/>
        </p:nvSpPr>
        <p:spPr>
          <a:xfrm>
            <a:off x="3931920" y="4608576"/>
            <a:ext cx="3931920" cy="84124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95928" y="4608576"/>
            <a:ext cx="380390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裸机非对称多处理：NMI→自定义 panic handler→关停 CPU 核→上下文切回主实例恢复</a:t>
            </a:r>
          </a:p>
        </p:txBody>
      </p:sp>
      <p:sp>
        <p:nvSpPr>
          <p:cNvPr id="26" name="Rectangle 25"/>
          <p:cNvSpPr/>
          <p:nvPr/>
        </p:nvSpPr>
        <p:spPr>
          <a:xfrm>
            <a:off x="7863840" y="4608576"/>
            <a:ext cx="3593592" cy="84124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27848" y="4608576"/>
            <a:ext cx="3465576"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A30822"/>
                </a:solidFill>
                <a:latin typeface="Microsoft YaHei"/>
              </a:rPr>
              <a:t>面向裸机 AMP 非云宿主机；依赖真关核，资源浪费且不区分缓存层级；无 VM 优雅疏散</a:t>
            </a:r>
          </a:p>
        </p:txBody>
      </p:sp>
      <p:sp>
        <p:nvSpPr>
          <p:cNvPr id="28" name="Rectangle 27"/>
          <p:cNvSpPr/>
          <p:nvPr/>
        </p:nvSpPr>
        <p:spPr>
          <a:xfrm>
            <a:off x="731520" y="5449824"/>
            <a:ext cx="3200400"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5449824"/>
            <a:ext cx="307238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内核既有原语
(tolerant/CEC/hotplug/isolcpus)</a:t>
            </a:r>
          </a:p>
        </p:txBody>
      </p:sp>
      <p:sp>
        <p:nvSpPr>
          <p:cNvPr id="30" name="Rectangle 29"/>
          <p:cNvSpPr/>
          <p:nvPr/>
        </p:nvSpPr>
        <p:spPr>
          <a:xfrm>
            <a:off x="3931920" y="5449824"/>
            <a:ext cx="3931920"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95928" y="5449824"/>
            <a:ext cx="380390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纠错/隔离的孤立单点能力</a:t>
            </a:r>
          </a:p>
        </p:txBody>
      </p:sp>
      <p:sp>
        <p:nvSpPr>
          <p:cNvPr id="32" name="Rectangle 31"/>
          <p:cNvSpPr/>
          <p:nvPr/>
        </p:nvSpPr>
        <p:spPr>
          <a:xfrm>
            <a:off x="7863840" y="5449824"/>
            <a:ext cx="3593592"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27848" y="5449824"/>
            <a:ext cx="3465576"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A30822"/>
                </a:solidFill>
                <a:latin typeface="Microsoft YaHei"/>
              </a:rPr>
              <a:t>isolcpus 启动期静态、无法动态隔离；CEC 仅 x86、无上报；hotplug 在 vendor 内核死锁（隔离反致二次宕机）</a:t>
            </a:r>
          </a:p>
        </p:txBody>
      </p:sp>
      <p:sp>
        <p:nvSpPr>
          <p:cNvPr id="34" name="Rectangle 33"/>
          <p:cNvSpPr/>
          <p:nvPr/>
        </p:nvSpPr>
        <p:spPr>
          <a:xfrm>
            <a:off x="731520" y="6355080"/>
            <a:ext cx="10725912" cy="9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146304" cy="47548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
            <a:ext cx="10058400" cy="566928"/>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2400" b="1">
                <a:solidFill>
                  <a:srgbClr val="1A1A1A"/>
                </a:solidFill>
                <a:latin typeface="Microsoft YaHei"/>
              </a:rPr>
              <a:t>本 Idea 的技术方案（1/2）— 总体架构</a:t>
            </a:r>
          </a:p>
        </p:txBody>
      </p:sp>
      <p:sp>
        <p:nvSpPr>
          <p:cNvPr id="5" name="Rectangle 4"/>
          <p:cNvSpPr/>
          <p:nvPr/>
        </p:nvSpPr>
        <p:spPr>
          <a:xfrm>
            <a:off x="731520" y="950976"/>
            <a:ext cx="10725912" cy="254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0" y="384048"/>
            <a:ext cx="1965960" cy="365760"/>
          </a:xfrm>
          <a:prstGeom prst="rect">
            <a:avLst/>
          </a:prstGeom>
          <a:noFill/>
        </p:spPr>
        <p:txBody>
          <a:bodyPr wrap="square" anchor="ctr" lIns="50800" rIns="50800" tIns="25400" bIns="25400">
            <a:spAutoFit/>
          </a:bodyPr>
          <a:lstStyle/>
          <a:p>
            <a:pPr algn="r">
              <a:lnSpc>
                <a:spcPct val="100000"/>
              </a:lnSpc>
              <a:spcBef>
                <a:spcPts val="0"/>
              </a:spcBef>
              <a:spcAft>
                <a:spcPts val="300"/>
              </a:spcAft>
            </a:pPr>
            <a:r>
              <a:rPr sz="1100" b="0">
                <a:solidFill>
                  <a:srgbClr val="595959"/>
                </a:solidFill>
                <a:latin typeface="Microsoft YaHei"/>
              </a:rPr>
              <a:t>专利 IDEA</a:t>
            </a:r>
          </a:p>
        </p:txBody>
      </p:sp>
      <p:sp>
        <p:nvSpPr>
          <p:cNvPr id="7" name="TextBox 6"/>
          <p:cNvSpPr txBox="1"/>
          <p:nvPr/>
        </p:nvSpPr>
        <p:spPr>
          <a:xfrm>
            <a:off x="731520" y="1024128"/>
            <a:ext cx="10725912" cy="310896"/>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200" b="0">
                <a:solidFill>
                  <a:srgbClr val="595959"/>
                </a:solidFill>
                <a:latin typeface="Microsoft YaHei"/>
              </a:rPr>
              <a:t>以可加载内核模块 cpu_fault_isolate.ko 交付，不修改内核源码；CPU 故障域(CFI) + 内存故障域(MFI) 并列</a:t>
            </a:r>
          </a:p>
        </p:txBody>
      </p:sp>
      <p:sp>
        <p:nvSpPr>
          <p:cNvPr id="8" name="Rectangle 7"/>
          <p:cNvSpPr/>
          <p:nvPr/>
        </p:nvSpPr>
        <p:spPr>
          <a:xfrm>
            <a:off x="731520" y="1481328"/>
            <a:ext cx="10725912" cy="868680"/>
          </a:xfrm>
          <a:prstGeom prst="rect">
            <a:avLst/>
          </a:prstGeom>
          <a:solidFill>
            <a:srgbClr val="A30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27048"/>
            <a:ext cx="10506456" cy="310896"/>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300" b="1">
                <a:solidFill>
                  <a:srgbClr val="FFFFFF"/>
                </a:solidFill>
                <a:latin typeface="Microsoft YaHei"/>
              </a:rPr>
              <a:t>① 事件源 / Arch 后端（运行时探测，有则挂无则跳）</a:t>
            </a:r>
          </a:p>
        </p:txBody>
      </p:sp>
      <p:sp>
        <p:nvSpPr>
          <p:cNvPr id="10" name="TextBox 9"/>
          <p:cNvSpPr txBox="1"/>
          <p:nvPr/>
        </p:nvSpPr>
        <p:spPr>
          <a:xfrm>
            <a:off x="841248" y="1847088"/>
            <a:ext cx="10506456" cy="457200"/>
          </a:xfrm>
          <a:prstGeom prst="rect">
            <a:avLst/>
          </a:prstGeom>
          <a:noFill/>
        </p:spPr>
        <p:txBody>
          <a:bodyPr wrap="square" anchor="t" lIns="50800" rIns="50800" tIns="25400" bIns="25400">
            <a:spAutoFit/>
          </a:bodyPr>
          <a:lstStyle/>
          <a:p>
            <a:pPr algn="l">
              <a:lnSpc>
                <a:spcPct val="104000"/>
              </a:lnSpc>
              <a:spcBef>
                <a:spcPts val="0"/>
              </a:spcBef>
              <a:spcAft>
                <a:spcPts val="300"/>
              </a:spcAft>
            </a:pPr>
            <a:r>
              <a:rPr sz="1050" b="0">
                <a:solidFill>
                  <a:srgbClr val="FFFFFF"/>
                </a:solidFill>
                <a:latin typeface="Microsoft YaHei"/>
              </a:rPr>
              <a:t>x86：MCE 解码链 + MCACOD 分类 + 厂商 FMA 钩子；arm64：GHES/APEI/CPER；公共：EDAC trace_mc_event、memory_failure 回执。kprobe 取未导出符号（cfi_lookup_name）。</a:t>
            </a:r>
          </a:p>
        </p:txBody>
      </p:sp>
      <p:sp>
        <p:nvSpPr>
          <p:cNvPr id="11" name="Rectangle 10"/>
          <p:cNvSpPr/>
          <p:nvPr/>
        </p:nvSpPr>
        <p:spPr>
          <a:xfrm>
            <a:off x="731520" y="2468880"/>
            <a:ext cx="5285232" cy="13716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2514600"/>
            <a:ext cx="5065776" cy="310896"/>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300" b="1">
                <a:solidFill>
                  <a:srgbClr val="FFFFFF"/>
                </a:solidFill>
                <a:latin typeface="Microsoft YaHei"/>
              </a:rPr>
              <a:t>② CPU 故障域 CFI</a:t>
            </a:r>
          </a:p>
        </p:txBody>
      </p:sp>
      <p:sp>
        <p:nvSpPr>
          <p:cNvPr id="13" name="TextBox 12"/>
          <p:cNvSpPr txBox="1"/>
          <p:nvPr/>
        </p:nvSpPr>
        <p:spPr>
          <a:xfrm>
            <a:off x="841248" y="2834640"/>
            <a:ext cx="5065776" cy="960120"/>
          </a:xfrm>
          <a:prstGeom prst="rect">
            <a:avLst/>
          </a:prstGeom>
          <a:noFill/>
        </p:spPr>
        <p:txBody>
          <a:bodyPr wrap="square" anchor="t" lIns="50800" rIns="50800" tIns="25400" bIns="25400">
            <a:spAutoFit/>
          </a:bodyPr>
          <a:lstStyle/>
          <a:p>
            <a:pPr algn="l">
              <a:lnSpc>
                <a:spcPct val="104000"/>
              </a:lnSpc>
              <a:spcBef>
                <a:spcPts val="0"/>
              </a:spcBef>
              <a:spcAft>
                <a:spcPts val="300"/>
              </a:spcAft>
            </a:pPr>
            <a:r>
              <a:rPr sz="1050" b="0">
                <a:solidFill>
                  <a:srgbClr val="FFFFFF"/>
                </a:solidFill>
                <a:latin typeface="Microsoft YaHei"/>
              </a:rPr>
              <a:t>Per-CPU 阈值/滑动窗口 → 五态状态机 → 按缓存拓扑分级：L1/L2/TLB/总线 per-core→隔离；L3/LLC socket 共享→仅记账上报。三档隔离引擎 full / inactive(默认) / soft。</a:t>
            </a:r>
          </a:p>
        </p:txBody>
      </p:sp>
      <p:sp>
        <p:nvSpPr>
          <p:cNvPr id="14" name="Rectangle 13"/>
          <p:cNvSpPr/>
          <p:nvPr/>
        </p:nvSpPr>
        <p:spPr>
          <a:xfrm>
            <a:off x="6172200" y="2468880"/>
            <a:ext cx="5285232" cy="13716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81928" y="2514600"/>
            <a:ext cx="5065776" cy="310896"/>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300" b="1">
                <a:solidFill>
                  <a:srgbClr val="FFFFFF"/>
                </a:solidFill>
                <a:latin typeface="Microsoft YaHei"/>
              </a:rPr>
              <a:t>② 内存故障域 MFI</a:t>
            </a:r>
          </a:p>
        </p:txBody>
      </p:sp>
      <p:sp>
        <p:nvSpPr>
          <p:cNvPr id="16" name="TextBox 15"/>
          <p:cNvSpPr txBox="1"/>
          <p:nvPr/>
        </p:nvSpPr>
        <p:spPr>
          <a:xfrm>
            <a:off x="6281928" y="2834640"/>
            <a:ext cx="5065776" cy="960120"/>
          </a:xfrm>
          <a:prstGeom prst="rect">
            <a:avLst/>
          </a:prstGeom>
          <a:noFill/>
        </p:spPr>
        <p:txBody>
          <a:bodyPr wrap="square" anchor="t" lIns="50800" rIns="50800" tIns="25400" bIns="25400">
            <a:spAutoFit/>
          </a:bodyPr>
          <a:lstStyle/>
          <a:p>
            <a:pPr algn="l">
              <a:lnSpc>
                <a:spcPct val="104000"/>
              </a:lnSpc>
              <a:spcBef>
                <a:spcPts val="0"/>
              </a:spcBef>
              <a:spcAft>
                <a:spcPts val="300"/>
              </a:spcAft>
            </a:pPr>
            <a:r>
              <a:rPr sz="1050" b="0">
                <a:solidFill>
                  <a:srgbClr val="FFFFFF"/>
                </a:solidFill>
                <a:latin typeface="Microsoft YaHei"/>
              </a:rPr>
              <a:t>页级 PFN 记账（哈希表+LRU）→ CE 前兆预隔离 soft_offline；异步 UCE(SRAO/deferred) 页隔离；内核态 UCE 落点甄别白名单；DIMM/rank 介质级记账→疏散建议。</a:t>
            </a:r>
          </a:p>
        </p:txBody>
      </p:sp>
      <p:sp>
        <p:nvSpPr>
          <p:cNvPr id="17" name="Rectangle 16"/>
          <p:cNvSpPr/>
          <p:nvPr/>
        </p:nvSpPr>
        <p:spPr>
          <a:xfrm>
            <a:off x="731520" y="3950208"/>
            <a:ext cx="10725912" cy="749808"/>
          </a:xfrm>
          <a:prstGeom prst="rect">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995928"/>
            <a:ext cx="10506456" cy="310896"/>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300" b="1">
                <a:solidFill>
                  <a:srgbClr val="FFFFFF"/>
                </a:solidFill>
                <a:latin typeface="Microsoft YaHei"/>
              </a:rPr>
              <a:t>③ 共享基础设施</a:t>
            </a:r>
          </a:p>
        </p:txBody>
      </p:sp>
      <p:sp>
        <p:nvSpPr>
          <p:cNvPr id="19" name="TextBox 18"/>
          <p:cNvSpPr txBox="1"/>
          <p:nvPr/>
        </p:nvSpPr>
        <p:spPr>
          <a:xfrm>
            <a:off x="841248" y="4315968"/>
            <a:ext cx="10506456" cy="338328"/>
          </a:xfrm>
          <a:prstGeom prst="rect">
            <a:avLst/>
          </a:prstGeom>
          <a:noFill/>
        </p:spPr>
        <p:txBody>
          <a:bodyPr wrap="square" anchor="t" lIns="50800" rIns="50800" tIns="25400" bIns="25400">
            <a:spAutoFit/>
          </a:bodyPr>
          <a:lstStyle/>
          <a:p>
            <a:pPr algn="l">
              <a:lnSpc>
                <a:spcPct val="104000"/>
              </a:lnSpc>
              <a:spcBef>
                <a:spcPts val="0"/>
              </a:spcBef>
              <a:spcAft>
                <a:spcPts val="300"/>
              </a:spcAft>
            </a:pPr>
            <a:r>
              <a:rPr sz="1050" b="0">
                <a:solidFill>
                  <a:srgbClr val="FFFFFF"/>
                </a:solidFill>
                <a:latin typeface="Microsoft YaHei"/>
              </a:rPr>
              <a:t>panic 抑制层（kprobe 改写 mce_tolerant=3 + panic_notifier 兜底） · Generic Netlink "CFI" · Sysfs/Debugfs · 跨核隔离调度（故障核动作派发到健康核）</a:t>
            </a:r>
          </a:p>
        </p:txBody>
      </p:sp>
      <p:sp>
        <p:nvSpPr>
          <p:cNvPr id="20" name="Rectangle 19"/>
          <p:cNvSpPr/>
          <p:nvPr/>
        </p:nvSpPr>
        <p:spPr>
          <a:xfrm>
            <a:off x="731520" y="4809744"/>
            <a:ext cx="10725912" cy="841248"/>
          </a:xfrm>
          <a:prstGeom prst="rect">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4855464"/>
            <a:ext cx="10506456" cy="310896"/>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300" b="1">
                <a:solidFill>
                  <a:srgbClr val="FFFFFF"/>
                </a:solidFill>
                <a:latin typeface="Microsoft YaHei"/>
              </a:rPr>
              <a:t>④ 用户态协同 cfid（daemon）</a:t>
            </a:r>
          </a:p>
        </p:txBody>
      </p:sp>
      <p:sp>
        <p:nvSpPr>
          <p:cNvPr id="22" name="TextBox 21"/>
          <p:cNvSpPr txBox="1"/>
          <p:nvPr/>
        </p:nvSpPr>
        <p:spPr>
          <a:xfrm>
            <a:off x="841248" y="5175504"/>
            <a:ext cx="10506456" cy="429768"/>
          </a:xfrm>
          <a:prstGeom prst="rect">
            <a:avLst/>
          </a:prstGeom>
          <a:noFill/>
        </p:spPr>
        <p:txBody>
          <a:bodyPr wrap="square" anchor="t" lIns="50800" rIns="50800" tIns="25400" bIns="25400">
            <a:spAutoFit/>
          </a:bodyPr>
          <a:lstStyle/>
          <a:p>
            <a:pPr algn="l">
              <a:lnSpc>
                <a:spcPct val="104000"/>
              </a:lnSpc>
              <a:spcBef>
                <a:spcPts val="0"/>
              </a:spcBef>
              <a:spcAft>
                <a:spcPts val="300"/>
              </a:spcAft>
            </a:pPr>
            <a:r>
              <a:rPr sz="1050" b="0">
                <a:solidFill>
                  <a:srgbClr val="FFFFFF"/>
                </a:solidFill>
                <a:latin typeface="Microsoft YaHei"/>
              </a:rPr>
              <a:t>K→U：STATE_CHANGE / ERROR_EVENT / MEM_*；U→K：ACK_ISOLATE（延迟隔离）/ SET_POLICY / ISOLATE。daemon 据通知热迁移/疏散 VM，再 ACK；超时强制兜底。对接 Nova / K8s 调度。</a:t>
            </a:r>
          </a:p>
        </p:txBody>
      </p:sp>
      <p:sp>
        <p:nvSpPr>
          <p:cNvPr id="23" name="TextBox 22"/>
          <p:cNvSpPr txBox="1"/>
          <p:nvPr/>
        </p:nvSpPr>
        <p:spPr>
          <a:xfrm>
            <a:off x="731520" y="5779008"/>
            <a:ext cx="10725912" cy="822960"/>
          </a:xfrm>
          <a:prstGeom prst="rect">
            <a:avLst/>
          </a:prstGeom>
          <a:noFill/>
        </p:spPr>
        <p:txBody>
          <a:bodyPr wrap="square" anchor="ctr" lIns="50800" rIns="50800" tIns="25400" bIns="25400">
            <a:spAutoFit/>
          </a:bodyPr>
          <a:lstStyle/>
          <a:p>
            <a:pPr algn="l">
              <a:lnSpc>
                <a:spcPct val="110000"/>
              </a:lnSpc>
              <a:spcBef>
                <a:spcPts val="0"/>
              </a:spcBef>
              <a:spcAft>
                <a:spcPts val="300"/>
              </a:spcAft>
            </a:pPr>
            <a:r>
              <a:rPr sz="1300" b="1">
                <a:solidFill>
                  <a:srgbClr val="CF0A2C"/>
                </a:solidFill>
                <a:latin typeface="Microsoft YaHei"/>
              </a:rPr>
              <a:t>核心思路：先“拦截本不该发生的整机 panic”→ 再“接管事件分类”→ 按物理故障域“分级隔离”→ 经 netlink 与 daemon“优雅疏散 VM”，把整机宕机收敛为单核/单页/单 VM 损失。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146304" cy="47548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
            <a:ext cx="10058400" cy="566928"/>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2400" b="1">
                <a:solidFill>
                  <a:srgbClr val="1A1A1A"/>
                </a:solidFill>
                <a:latin typeface="Microsoft YaHei"/>
              </a:rPr>
              <a:t>本 Idea 的技术方案（2/2）— 三条关键流程</a:t>
            </a:r>
          </a:p>
        </p:txBody>
      </p:sp>
      <p:sp>
        <p:nvSpPr>
          <p:cNvPr id="5" name="Rectangle 4"/>
          <p:cNvSpPr/>
          <p:nvPr/>
        </p:nvSpPr>
        <p:spPr>
          <a:xfrm>
            <a:off x="731520" y="950976"/>
            <a:ext cx="10725912" cy="254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0" y="384048"/>
            <a:ext cx="1965960" cy="365760"/>
          </a:xfrm>
          <a:prstGeom prst="rect">
            <a:avLst/>
          </a:prstGeom>
          <a:noFill/>
        </p:spPr>
        <p:txBody>
          <a:bodyPr wrap="square" anchor="ctr" lIns="50800" rIns="50800" tIns="25400" bIns="25400">
            <a:spAutoFit/>
          </a:bodyPr>
          <a:lstStyle/>
          <a:p>
            <a:pPr algn="r">
              <a:lnSpc>
                <a:spcPct val="100000"/>
              </a:lnSpc>
              <a:spcBef>
                <a:spcPts val="0"/>
              </a:spcBef>
              <a:spcAft>
                <a:spcPts val="300"/>
              </a:spcAft>
            </a:pPr>
            <a:r>
              <a:rPr sz="1100" b="0">
                <a:solidFill>
                  <a:srgbClr val="595959"/>
                </a:solidFill>
                <a:latin typeface="Microsoft YaHei"/>
              </a:rPr>
              <a:t>专利 IDEA</a:t>
            </a:r>
          </a:p>
        </p:txBody>
      </p:sp>
      <p:sp>
        <p:nvSpPr>
          <p:cNvPr id="7" name="Rectangle 6"/>
          <p:cNvSpPr/>
          <p:nvPr/>
        </p:nvSpPr>
        <p:spPr>
          <a:xfrm>
            <a:off x="731520" y="1143000"/>
            <a:ext cx="10725912" cy="38404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43000"/>
            <a:ext cx="10725912" cy="384048"/>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1300" b="1">
                <a:solidFill>
                  <a:srgbClr val="FFFFFF"/>
                </a:solidFill>
                <a:latin typeface="Microsoft YaHei"/>
              </a:rPr>
              <a:t>流程 A：运行时 panic 抑制 + 故障接管接力（不改内核源码）</a:t>
            </a:r>
          </a:p>
        </p:txBody>
      </p:sp>
      <p:sp>
        <p:nvSpPr>
          <p:cNvPr id="9" name="TextBox 8"/>
          <p:cNvSpPr txBox="1"/>
          <p:nvPr/>
        </p:nvSpPr>
        <p:spPr>
          <a:xfrm>
            <a:off x="822960" y="1572768"/>
            <a:ext cx="10607040" cy="640080"/>
          </a:xfrm>
          <a:prstGeom prst="rect">
            <a:avLst/>
          </a:prstGeom>
          <a:noFill/>
        </p:spPr>
        <p:txBody>
          <a:bodyPr wrap="square" anchor="t" lIns="50800" rIns="50800" tIns="25400" bIns="25400">
            <a:spAutoFit/>
          </a:bodyPr>
          <a:lstStyle/>
          <a:p>
            <a:pPr algn="l">
              <a:lnSpc>
                <a:spcPct val="112000"/>
              </a:lnSpc>
              <a:spcBef>
                <a:spcPts val="0"/>
              </a:spcBef>
              <a:spcAft>
                <a:spcPts val="300"/>
              </a:spcAft>
            </a:pPr>
            <a:r>
              <a:rPr sz="1150" b="0">
                <a:solidFill>
                  <a:srgbClr val="1A1A1A"/>
                </a:solidFill>
                <a:latin typeface="Microsoft YaHei"/>
              </a:rPr>
              <a:t>模块加载时 kprobe 定位未导出符号 mce_tolerant 直写为 3 → do_machine_check() 中受 tolerant&lt;3 门控的 panic 分支（同步超时/MCIP 未置/fatal）退化为“记录+返回” → 事件回流 x86_mce_decoder_chain → 模块 notifier 接管分类 → 派发隔离；再注册 panic_notifier 二层兜底；卸载完整回滚。</a:t>
            </a:r>
          </a:p>
        </p:txBody>
      </p:sp>
      <p:sp>
        <p:nvSpPr>
          <p:cNvPr id="10" name="Rectangle 9"/>
          <p:cNvSpPr/>
          <p:nvPr/>
        </p:nvSpPr>
        <p:spPr>
          <a:xfrm>
            <a:off x="731520" y="2697480"/>
            <a:ext cx="5285232" cy="38404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697480"/>
            <a:ext cx="5285232" cy="384048"/>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1300" b="1">
                <a:solidFill>
                  <a:srgbClr val="FFFFFF"/>
                </a:solidFill>
                <a:latin typeface="Microsoft YaHei"/>
              </a:rPr>
              <a:t>流程 B：无下电隔离（INACTIVE，默认）</a:t>
            </a:r>
          </a:p>
        </p:txBody>
      </p:sp>
      <p:sp>
        <p:nvSpPr>
          <p:cNvPr id="12" name="TextBox 11"/>
          <p:cNvSpPr txBox="1"/>
          <p:nvPr/>
        </p:nvSpPr>
        <p:spPr>
          <a:xfrm>
            <a:off x="822960" y="3127248"/>
            <a:ext cx="5120640" cy="1371600"/>
          </a:xfrm>
          <a:prstGeom prst="rect">
            <a:avLst/>
          </a:prstGeom>
          <a:noFill/>
        </p:spPr>
        <p:txBody>
          <a:bodyPr wrap="square" anchor="t" lIns="50800" rIns="50800" tIns="25400" bIns="25400">
            <a:spAutoFit/>
          </a:bodyPr>
          <a:lstStyle/>
          <a:p>
            <a:pPr algn="l">
              <a:lnSpc>
                <a:spcPct val="110000"/>
              </a:lnSpc>
              <a:spcBef>
                <a:spcPts val="0"/>
              </a:spcBef>
              <a:spcAft>
                <a:spcPts val="300"/>
              </a:spcAft>
            </a:pPr>
            <a:r>
              <a:rPr sz="1150" b="0">
                <a:solidFill>
                  <a:srgbClr val="1A1A1A"/>
                </a:solidFill>
                <a:latin typeface="Microsoft YaHei"/>
              </a:rPr>
              <a:t>故障核 set_cpu_active(cpu,false) 从 cpu_active_mask 清位（调度器不再派活）→ 遍历该核中断亲和性，将全部可迁移 IRQ 迁出至健康核 → 完全不调 cpu_down，绕开 hotplug 死锁面。CPU 保持 online=1 但对调度/中断“形同下线”。</a:t>
            </a:r>
          </a:p>
          <a:p>
            <a:pPr algn="l">
              <a:lnSpc>
                <a:spcPct val="110000"/>
              </a:lnSpc>
              <a:spcBef>
                <a:spcPts val="0"/>
              </a:spcBef>
              <a:spcAft>
                <a:spcPts val="300"/>
              </a:spcAft>
            </a:pPr>
            <a:r>
              <a:rPr sz="1100" b="0">
                <a:solidFill>
                  <a:srgbClr val="595959"/>
                </a:solidFill>
                <a:latin typeface="Microsoft YaHei"/>
              </a:rPr>
              <a:t>三档：full（真下线，需 livepatch）/ inactive（默认）/ soft；按内核能力自适应。protect_cpu0、拒绝自隔离、拒绝下线最后一个核。</a:t>
            </a:r>
          </a:p>
        </p:txBody>
      </p:sp>
      <p:sp>
        <p:nvSpPr>
          <p:cNvPr id="13" name="Rectangle 12"/>
          <p:cNvSpPr/>
          <p:nvPr/>
        </p:nvSpPr>
        <p:spPr>
          <a:xfrm>
            <a:off x="6172200" y="2697480"/>
            <a:ext cx="5285232" cy="38404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2697480"/>
            <a:ext cx="5285232" cy="384048"/>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1300" b="1">
                <a:solidFill>
                  <a:srgbClr val="FFFFFF"/>
                </a:solidFill>
                <a:latin typeface="Microsoft YaHei"/>
              </a:rPr>
              <a:t>流程 C：内核态 UCE 落点甄别白名单</a:t>
            </a:r>
          </a:p>
        </p:txBody>
      </p:sp>
      <p:sp>
        <p:nvSpPr>
          <p:cNvPr id="15" name="TextBox 14"/>
          <p:cNvSpPr txBox="1"/>
          <p:nvPr/>
        </p:nvSpPr>
        <p:spPr>
          <a:xfrm>
            <a:off x="6263640" y="3127248"/>
            <a:ext cx="5120640" cy="1371600"/>
          </a:xfrm>
          <a:prstGeom prst="rect">
            <a:avLst/>
          </a:prstGeom>
          <a:noFill/>
        </p:spPr>
        <p:txBody>
          <a:bodyPr wrap="square" anchor="t" lIns="50800" rIns="50800" tIns="25400" bIns="25400">
            <a:spAutoFit/>
          </a:bodyPr>
          <a:lstStyle/>
          <a:p>
            <a:pPr algn="l">
              <a:lnSpc>
                <a:spcPct val="108000"/>
              </a:lnSpc>
              <a:spcBef>
                <a:spcPts val="0"/>
              </a:spcBef>
              <a:spcAft>
                <a:spcPts val="300"/>
              </a:spcAft>
            </a:pPr>
            <a:r>
              <a:rPr sz="1150" b="0">
                <a:solidFill>
                  <a:srgbClr val="1A1A1A"/>
                </a:solidFill>
                <a:latin typeface="Microsoft YaHei"/>
              </a:rPr>
              <a:t>按 页归属（用户/虚机页 vs 内核页）× 消费方式（异步未消费 / 有 fixup / 无 fixup）× 可恢复信号（RIPV=1、单 bank、无 PCC）二维判决：</a:t>
            </a:r>
          </a:p>
          <a:p>
            <a:pPr algn="l">
              <a:lnSpc>
                <a:spcPct val="108000"/>
              </a:lnSpc>
              <a:spcBef>
                <a:spcPts val="0"/>
              </a:spcBef>
              <a:spcAft>
                <a:spcPts val="300"/>
              </a:spcAft>
            </a:pPr>
            <a:r>
              <a:rPr sz="1100" b="0">
                <a:solidFill>
                  <a:srgbClr val="1A1A1A"/>
                </a:solidFill>
                <a:latin typeface="Microsoft YaHei"/>
              </a:rPr>
              <a:t>· 异步未消费 → 零损失页隔离；有 fixup → 内核自恢复；无 fixup 但用户/虚机页且可恢复 → 杀属主(VM→异地重建)。</a:t>
            </a:r>
          </a:p>
          <a:p>
            <a:pPr algn="l">
              <a:lnSpc>
                <a:spcPct val="108000"/>
              </a:lnSpc>
              <a:spcBef>
                <a:spcPts val="0"/>
              </a:spcBef>
              <a:spcAft>
                <a:spcPts val="300"/>
              </a:spcAft>
            </a:pPr>
            <a:r>
              <a:rPr sz="1100" b="1">
                <a:solidFill>
                  <a:srgbClr val="A30822"/>
                </a:solidFill>
                <a:latin typeface="Microsoft YaHei"/>
              </a:rPr>
              <a:t>· 不在白名单一律主动快速 panic + kdump，杜绝静默数据损坏。甄别只读页元数据，不触碰毒页。</a:t>
            </a:r>
          </a:p>
        </p:txBody>
      </p:sp>
      <p:sp>
        <p:nvSpPr>
          <p:cNvPr id="16" name="Rectangle 15"/>
          <p:cNvSpPr/>
          <p:nvPr/>
        </p:nvSpPr>
        <p:spPr>
          <a:xfrm>
            <a:off x="731520" y="4709160"/>
            <a:ext cx="10725912" cy="914400"/>
          </a:xfrm>
          <a:prstGeom prst="rect">
            <a:avLst/>
          </a:prstGeom>
          <a:solidFill>
            <a:srgbClr val="FBECEE"/>
          </a:solidFill>
          <a:ln w="15240">
            <a:solidFill>
              <a:srgbClr val="CF0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73168"/>
            <a:ext cx="10424160" cy="822960"/>
          </a:xfrm>
          <a:prstGeom prst="rect">
            <a:avLst/>
          </a:prstGeom>
          <a:noFill/>
        </p:spPr>
        <p:txBody>
          <a:bodyPr wrap="square" anchor="t" lIns="50800" rIns="50800" tIns="25400" bIns="25400">
            <a:spAutoFit/>
          </a:bodyPr>
          <a:lstStyle/>
          <a:p>
            <a:pPr algn="l">
              <a:lnSpc>
                <a:spcPct val="110000"/>
              </a:lnSpc>
              <a:spcBef>
                <a:spcPts val="0"/>
              </a:spcBef>
              <a:spcAft>
                <a:spcPts val="300"/>
              </a:spcAft>
            </a:pPr>
            <a:r>
              <a:rPr sz="1250" b="1">
                <a:solidFill>
                  <a:srgbClr val="CF0A2C"/>
                </a:solidFill>
                <a:latin typeface="Microsoft YaHei"/>
              </a:rPr>
              <a:t>流程 D（贯穿）：延迟隔离协同协议</a:t>
            </a:r>
          </a:p>
          <a:p>
            <a:pPr algn="l">
              <a:lnSpc>
                <a:spcPct val="110000"/>
              </a:lnSpc>
              <a:spcBef>
                <a:spcPts val="0"/>
              </a:spcBef>
              <a:spcAft>
                <a:spcPts val="300"/>
              </a:spcAft>
            </a:pPr>
            <a:r>
              <a:rPr sz="1150" b="0">
                <a:solidFill>
                  <a:srgbClr val="1A1A1A"/>
                </a:solidFill>
                <a:latin typeface="Microsoft YaHei"/>
              </a:rPr>
              <a:t>内核进入 ISOLATING → netlink 通知 daemon → daemon 热迁移/疏散该核 VM → 回 ACK_ISOLATE → 内核取消定时器执行隔离；defer_timeout_ms 内无 ACK 则强制兜底。常态 VM 零损失热迁，异常仍保证故障核必被隔离。</a:t>
            </a:r>
          </a:p>
        </p:txBody>
      </p:sp>
      <p:sp>
        <p:nvSpPr>
          <p:cNvPr id="18" name="TextBox 17"/>
          <p:cNvSpPr txBox="1"/>
          <p:nvPr/>
        </p:nvSpPr>
        <p:spPr>
          <a:xfrm>
            <a:off x="731520" y="5760720"/>
            <a:ext cx="10725912" cy="731520"/>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1200" b="0">
                <a:solidFill>
                  <a:srgbClr val="595959"/>
                </a:solidFill>
                <a:latin typeface="Microsoft YaHei"/>
              </a:rPr>
              <a:t>已落地：~11 个内核源文件（core/ 公共域 + arch/x86、arch/arm64 后端）+ cfid 参考实现 + 策略单测；HCE2 物理机实证通过。</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146304" cy="47548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
            <a:ext cx="10058400" cy="566928"/>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2400" b="1">
                <a:solidFill>
                  <a:srgbClr val="1A1A1A"/>
                </a:solidFill>
                <a:latin typeface="Microsoft YaHei"/>
              </a:rPr>
              <a:t>本 Idea 的技术保护点</a:t>
            </a:r>
          </a:p>
        </p:txBody>
      </p:sp>
      <p:sp>
        <p:nvSpPr>
          <p:cNvPr id="5" name="Rectangle 4"/>
          <p:cNvSpPr/>
          <p:nvPr/>
        </p:nvSpPr>
        <p:spPr>
          <a:xfrm>
            <a:off x="731520" y="950976"/>
            <a:ext cx="10725912" cy="254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0" y="384048"/>
            <a:ext cx="1965960" cy="365760"/>
          </a:xfrm>
          <a:prstGeom prst="rect">
            <a:avLst/>
          </a:prstGeom>
          <a:noFill/>
        </p:spPr>
        <p:txBody>
          <a:bodyPr wrap="square" anchor="ctr" lIns="50800" rIns="50800" tIns="25400" bIns="25400">
            <a:spAutoFit/>
          </a:bodyPr>
          <a:lstStyle/>
          <a:p>
            <a:pPr algn="r">
              <a:lnSpc>
                <a:spcPct val="100000"/>
              </a:lnSpc>
              <a:spcBef>
                <a:spcPts val="0"/>
              </a:spcBef>
              <a:spcAft>
                <a:spcPts val="300"/>
              </a:spcAft>
            </a:pPr>
            <a:r>
              <a:rPr sz="1100" b="0">
                <a:solidFill>
                  <a:srgbClr val="595959"/>
                </a:solidFill>
                <a:latin typeface="Microsoft YaHei"/>
              </a:rPr>
              <a:t>专利 IDEA</a:t>
            </a:r>
          </a:p>
        </p:txBody>
      </p:sp>
      <p:sp>
        <p:nvSpPr>
          <p:cNvPr id="7" name="TextBox 6"/>
          <p:cNvSpPr txBox="1"/>
          <p:nvPr/>
        </p:nvSpPr>
        <p:spPr>
          <a:xfrm>
            <a:off x="731520" y="1024128"/>
            <a:ext cx="10725912" cy="310896"/>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200" b="0">
                <a:solidFill>
                  <a:srgbClr val="595959"/>
                </a:solidFill>
                <a:latin typeface="Microsoft YaHei"/>
              </a:rPr>
              <a:t>与现有技术不同的技术特征（写技术点，非优点/功能）</a:t>
            </a:r>
          </a:p>
        </p:txBody>
      </p:sp>
      <p:sp>
        <p:nvSpPr>
          <p:cNvPr id="8" name="Rectangle 7"/>
          <p:cNvSpPr/>
          <p:nvPr/>
        </p:nvSpPr>
        <p:spPr>
          <a:xfrm>
            <a:off x="731520" y="1417320"/>
            <a:ext cx="10725912"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17320"/>
            <a:ext cx="868680" cy="74980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17320"/>
            <a:ext cx="868680" cy="749808"/>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1800" b="1">
                <a:solidFill>
                  <a:srgbClr val="FFFFFF"/>
                </a:solidFill>
                <a:latin typeface="Microsoft YaHei"/>
              </a:rPr>
              <a:t>P1</a:t>
            </a:r>
          </a:p>
        </p:txBody>
      </p:sp>
      <p:sp>
        <p:nvSpPr>
          <p:cNvPr id="11" name="TextBox 10"/>
          <p:cNvSpPr txBox="1"/>
          <p:nvPr/>
        </p:nvSpPr>
        <p:spPr>
          <a:xfrm>
            <a:off x="1737360" y="1417320"/>
            <a:ext cx="9601200" cy="749808"/>
          </a:xfrm>
          <a:prstGeom prst="rect">
            <a:avLst/>
          </a:prstGeom>
          <a:noFill/>
        </p:spPr>
        <p:txBody>
          <a:bodyPr wrap="square" anchor="ctr" lIns="50800" rIns="50800" tIns="25400" bIns="25400">
            <a:spAutoFit/>
          </a:bodyPr>
          <a:lstStyle/>
          <a:p>
            <a:pPr algn="l">
              <a:lnSpc>
                <a:spcPct val="108000"/>
              </a:lnSpc>
              <a:spcBef>
                <a:spcPts val="0"/>
              </a:spcBef>
              <a:spcAft>
                <a:spcPts val="300"/>
              </a:spcAft>
            </a:pPr>
            <a:r>
              <a:rPr sz="1150" b="0">
                <a:solidFill>
                  <a:srgbClr val="1A1A1A"/>
                </a:solidFill>
                <a:latin typeface="Microsoft YaHei"/>
              </a:rPr>
              <a:t>以加载期 kprobe 改写未导出 mce_tolerant 符号、使致命 MCE 由 panic 分支退化为记录并回流解码链、再由同模块 notifier 接管分类的“外挂式 panic 抑制+接管”技术特征（不修改内核源码）</a:t>
            </a:r>
          </a:p>
        </p:txBody>
      </p:sp>
      <p:sp>
        <p:nvSpPr>
          <p:cNvPr id="12" name="Rectangle 11"/>
          <p:cNvSpPr/>
          <p:nvPr/>
        </p:nvSpPr>
        <p:spPr>
          <a:xfrm>
            <a:off x="731520" y="2221992"/>
            <a:ext cx="10725912"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221992"/>
            <a:ext cx="868680" cy="74980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221992"/>
            <a:ext cx="868680" cy="749808"/>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1800" b="1">
                <a:solidFill>
                  <a:srgbClr val="FFFFFF"/>
                </a:solidFill>
                <a:latin typeface="Microsoft YaHei"/>
              </a:rPr>
              <a:t>P2</a:t>
            </a:r>
          </a:p>
        </p:txBody>
      </p:sp>
      <p:sp>
        <p:nvSpPr>
          <p:cNvPr id="15" name="TextBox 14"/>
          <p:cNvSpPr txBox="1"/>
          <p:nvPr/>
        </p:nvSpPr>
        <p:spPr>
          <a:xfrm>
            <a:off x="1737360" y="2221992"/>
            <a:ext cx="9601200" cy="749808"/>
          </a:xfrm>
          <a:prstGeom prst="rect">
            <a:avLst/>
          </a:prstGeom>
          <a:noFill/>
        </p:spPr>
        <p:txBody>
          <a:bodyPr wrap="square" anchor="ctr" lIns="50800" rIns="50800" tIns="25400" bIns="25400">
            <a:spAutoFit/>
          </a:bodyPr>
          <a:lstStyle/>
          <a:p>
            <a:pPr algn="l">
              <a:lnSpc>
                <a:spcPct val="108000"/>
              </a:lnSpc>
              <a:spcBef>
                <a:spcPts val="0"/>
              </a:spcBef>
              <a:spcAft>
                <a:spcPts val="300"/>
              </a:spcAft>
            </a:pPr>
            <a:r>
              <a:rPr sz="1150" b="0">
                <a:solidFill>
                  <a:srgbClr val="1A1A1A"/>
                </a:solidFill>
                <a:latin typeface="Microsoft YaHei"/>
              </a:rPr>
              <a:t>对故障核执行 set_cpu_active 清 cpu_active_mask + 中断亲和性全量迁出、而不调用 CPU 热插拔下线接口的“无下电隔离”技术特征；及 full/inactive/soft 三档按内核能力自适应选择</a:t>
            </a:r>
          </a:p>
        </p:txBody>
      </p:sp>
      <p:sp>
        <p:nvSpPr>
          <p:cNvPr id="16" name="Rectangle 15"/>
          <p:cNvSpPr/>
          <p:nvPr/>
        </p:nvSpPr>
        <p:spPr>
          <a:xfrm>
            <a:off x="731520" y="3026664"/>
            <a:ext cx="10725912"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26664"/>
            <a:ext cx="868680" cy="74980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026664"/>
            <a:ext cx="868680" cy="749808"/>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1800" b="1">
                <a:solidFill>
                  <a:srgbClr val="FFFFFF"/>
                </a:solidFill>
                <a:latin typeface="Microsoft YaHei"/>
              </a:rPr>
              <a:t>P3</a:t>
            </a:r>
          </a:p>
        </p:txBody>
      </p:sp>
      <p:sp>
        <p:nvSpPr>
          <p:cNvPr id="19" name="TextBox 18"/>
          <p:cNvSpPr txBox="1"/>
          <p:nvPr/>
        </p:nvSpPr>
        <p:spPr>
          <a:xfrm>
            <a:off x="1737360" y="3026664"/>
            <a:ext cx="9601200" cy="749808"/>
          </a:xfrm>
          <a:prstGeom prst="rect">
            <a:avLst/>
          </a:prstGeom>
          <a:noFill/>
        </p:spPr>
        <p:txBody>
          <a:bodyPr wrap="square" anchor="ctr" lIns="50800" rIns="50800" tIns="25400" bIns="25400">
            <a:spAutoFit/>
          </a:bodyPr>
          <a:lstStyle/>
          <a:p>
            <a:pPr algn="l">
              <a:lnSpc>
                <a:spcPct val="108000"/>
              </a:lnSpc>
              <a:spcBef>
                <a:spcPts val="0"/>
              </a:spcBef>
              <a:spcAft>
                <a:spcPts val="300"/>
              </a:spcAft>
            </a:pPr>
            <a:r>
              <a:rPr sz="1150" b="0">
                <a:solidFill>
                  <a:srgbClr val="1A1A1A"/>
                </a:solidFill>
                <a:latin typeface="Microsoft YaHei"/>
              </a:rPr>
              <a:t>在错误解码后按缓存层级×共享域分流的隔离决策：per-core(L1/L2/TLB/总线)→隔离上报该核，socket 共享(L3/LLC)→仅记账+netlink 上报不隔离核</a:t>
            </a:r>
          </a:p>
        </p:txBody>
      </p:sp>
      <p:sp>
        <p:nvSpPr>
          <p:cNvPr id="20" name="Rectangle 19"/>
          <p:cNvSpPr/>
          <p:nvPr/>
        </p:nvSpPr>
        <p:spPr>
          <a:xfrm>
            <a:off x="731520" y="3831336"/>
            <a:ext cx="10725912"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831336"/>
            <a:ext cx="868680" cy="74980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831336"/>
            <a:ext cx="868680" cy="749808"/>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1800" b="1">
                <a:solidFill>
                  <a:srgbClr val="FFFFFF"/>
                </a:solidFill>
                <a:latin typeface="Microsoft YaHei"/>
              </a:rPr>
              <a:t>P4</a:t>
            </a:r>
          </a:p>
        </p:txBody>
      </p:sp>
      <p:sp>
        <p:nvSpPr>
          <p:cNvPr id="23" name="TextBox 22"/>
          <p:cNvSpPr txBox="1"/>
          <p:nvPr/>
        </p:nvSpPr>
        <p:spPr>
          <a:xfrm>
            <a:off x="1737360" y="3831336"/>
            <a:ext cx="9601200" cy="749808"/>
          </a:xfrm>
          <a:prstGeom prst="rect">
            <a:avLst/>
          </a:prstGeom>
          <a:noFill/>
        </p:spPr>
        <p:txBody>
          <a:bodyPr wrap="square" anchor="ctr" lIns="50800" rIns="50800" tIns="25400" bIns="25400">
            <a:spAutoFit/>
          </a:bodyPr>
          <a:lstStyle/>
          <a:p>
            <a:pPr algn="l">
              <a:lnSpc>
                <a:spcPct val="108000"/>
              </a:lnSpc>
              <a:spcBef>
                <a:spcPts val="0"/>
              </a:spcBef>
              <a:spcAft>
                <a:spcPts val="300"/>
              </a:spcAft>
            </a:pPr>
            <a:r>
              <a:rPr sz="1150" b="0">
                <a:solidFill>
                  <a:srgbClr val="1A1A1A"/>
                </a:solidFill>
                <a:latin typeface="Microsoft YaHei"/>
              </a:rPr>
              <a:t>“页归属×消费方式×可恢复信号”二维白名单落点甄别，及“不在白名单即主动 panic+kdump”的兜底判决；甄别过程只读页元数据不触碰毒页</a:t>
            </a:r>
          </a:p>
        </p:txBody>
      </p:sp>
      <p:sp>
        <p:nvSpPr>
          <p:cNvPr id="24" name="Rectangle 23"/>
          <p:cNvSpPr/>
          <p:nvPr/>
        </p:nvSpPr>
        <p:spPr>
          <a:xfrm>
            <a:off x="731520" y="4636008"/>
            <a:ext cx="10725912"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636008"/>
            <a:ext cx="868680" cy="74980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636008"/>
            <a:ext cx="868680" cy="749808"/>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1800" b="1">
                <a:solidFill>
                  <a:srgbClr val="FFFFFF"/>
                </a:solidFill>
                <a:latin typeface="Microsoft YaHei"/>
              </a:rPr>
              <a:t>P5</a:t>
            </a:r>
          </a:p>
        </p:txBody>
      </p:sp>
      <p:sp>
        <p:nvSpPr>
          <p:cNvPr id="27" name="TextBox 26"/>
          <p:cNvSpPr txBox="1"/>
          <p:nvPr/>
        </p:nvSpPr>
        <p:spPr>
          <a:xfrm>
            <a:off x="1737360" y="4636008"/>
            <a:ext cx="9601200" cy="749808"/>
          </a:xfrm>
          <a:prstGeom prst="rect">
            <a:avLst/>
          </a:prstGeom>
          <a:noFill/>
        </p:spPr>
        <p:txBody>
          <a:bodyPr wrap="square" anchor="ctr" lIns="50800" rIns="50800" tIns="25400" bIns="25400">
            <a:spAutoFit/>
          </a:bodyPr>
          <a:lstStyle/>
          <a:p>
            <a:pPr algn="l">
              <a:lnSpc>
                <a:spcPct val="108000"/>
              </a:lnSpc>
              <a:spcBef>
                <a:spcPts val="0"/>
              </a:spcBef>
              <a:spcAft>
                <a:spcPts val="300"/>
              </a:spcAft>
            </a:pPr>
            <a:r>
              <a:rPr sz="1150" b="0">
                <a:solidFill>
                  <a:srgbClr val="1A1A1A"/>
                </a:solidFill>
                <a:latin typeface="Microsoft YaHei"/>
              </a:rPr>
              <a:t>内核进入隔离态先经 netlink 通知用户态、收 ACK 再下线、超时强制兜底的“延迟隔离协同协议”（CPU 域有 ACK、内存域无 ACK 的差异化设计）</a:t>
            </a:r>
          </a:p>
        </p:txBody>
      </p:sp>
      <p:sp>
        <p:nvSpPr>
          <p:cNvPr id="28" name="Rectangle 27"/>
          <p:cNvSpPr/>
          <p:nvPr/>
        </p:nvSpPr>
        <p:spPr>
          <a:xfrm>
            <a:off x="731520" y="5440680"/>
            <a:ext cx="10725912"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5440680"/>
            <a:ext cx="868680" cy="74980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440680"/>
            <a:ext cx="868680" cy="749808"/>
          </a:xfrm>
          <a:prstGeom prst="rect">
            <a:avLst/>
          </a:prstGeom>
          <a:noFill/>
        </p:spPr>
        <p:txBody>
          <a:bodyPr wrap="square" anchor="ctr" lIns="50800" rIns="50800" tIns="25400" bIns="25400">
            <a:spAutoFit/>
          </a:bodyPr>
          <a:lstStyle/>
          <a:p>
            <a:pPr algn="ctr">
              <a:lnSpc>
                <a:spcPct val="100000"/>
              </a:lnSpc>
              <a:spcBef>
                <a:spcPts val="0"/>
              </a:spcBef>
              <a:spcAft>
                <a:spcPts val="300"/>
              </a:spcAft>
            </a:pPr>
            <a:r>
              <a:rPr sz="1800" b="1">
                <a:solidFill>
                  <a:srgbClr val="FFFFFF"/>
                </a:solidFill>
                <a:latin typeface="Microsoft YaHei"/>
              </a:rPr>
              <a:t>P6</a:t>
            </a:r>
          </a:p>
        </p:txBody>
      </p:sp>
      <p:sp>
        <p:nvSpPr>
          <p:cNvPr id="31" name="TextBox 30"/>
          <p:cNvSpPr txBox="1"/>
          <p:nvPr/>
        </p:nvSpPr>
        <p:spPr>
          <a:xfrm>
            <a:off x="1737360" y="5440680"/>
            <a:ext cx="9601200" cy="749808"/>
          </a:xfrm>
          <a:prstGeom prst="rect">
            <a:avLst/>
          </a:prstGeom>
          <a:noFill/>
        </p:spPr>
        <p:txBody>
          <a:bodyPr wrap="square" anchor="ctr" lIns="50800" rIns="50800" tIns="25400" bIns="25400">
            <a:spAutoFit/>
          </a:bodyPr>
          <a:lstStyle/>
          <a:p>
            <a:pPr algn="l">
              <a:lnSpc>
                <a:spcPct val="108000"/>
              </a:lnSpc>
              <a:spcBef>
                <a:spcPts val="0"/>
              </a:spcBef>
              <a:spcAft>
                <a:spcPts val="300"/>
              </a:spcAft>
            </a:pPr>
            <a:r>
              <a:rPr sz="1150" b="0">
                <a:solidFill>
                  <a:srgbClr val="1A1A1A"/>
                </a:solidFill>
                <a:latin typeface="Microsoft YaHei"/>
              </a:rPr>
              <a:t>故障核工作队列不可用时将隔离动作 queue_work_on 派发至健康核的“跨核隔离调度”；及 CPU/内存双域共用 panic 抑制/netlink/daemon、x86 与 arm64 可插拔后端的统一框架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146304" cy="47548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
            <a:ext cx="10058400" cy="566928"/>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2400" b="1">
                <a:solidFill>
                  <a:srgbClr val="1A1A1A"/>
                </a:solidFill>
                <a:latin typeface="Microsoft YaHei"/>
              </a:rPr>
              <a:t>本 Idea 的技术效果</a:t>
            </a:r>
          </a:p>
        </p:txBody>
      </p:sp>
      <p:sp>
        <p:nvSpPr>
          <p:cNvPr id="5" name="Rectangle 4"/>
          <p:cNvSpPr/>
          <p:nvPr/>
        </p:nvSpPr>
        <p:spPr>
          <a:xfrm>
            <a:off x="731520" y="950976"/>
            <a:ext cx="10725912" cy="254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0" y="384048"/>
            <a:ext cx="1965960" cy="365760"/>
          </a:xfrm>
          <a:prstGeom prst="rect">
            <a:avLst/>
          </a:prstGeom>
          <a:noFill/>
        </p:spPr>
        <p:txBody>
          <a:bodyPr wrap="square" anchor="ctr" lIns="50800" rIns="50800" tIns="25400" bIns="25400">
            <a:spAutoFit/>
          </a:bodyPr>
          <a:lstStyle/>
          <a:p>
            <a:pPr algn="r">
              <a:lnSpc>
                <a:spcPct val="100000"/>
              </a:lnSpc>
              <a:spcBef>
                <a:spcPts val="0"/>
              </a:spcBef>
              <a:spcAft>
                <a:spcPts val="300"/>
              </a:spcAft>
            </a:pPr>
            <a:r>
              <a:rPr sz="1100" b="0">
                <a:solidFill>
                  <a:srgbClr val="595959"/>
                </a:solidFill>
                <a:latin typeface="Microsoft YaHei"/>
              </a:rPr>
              <a:t>专利 IDEA</a:t>
            </a:r>
          </a:p>
        </p:txBody>
      </p:sp>
      <p:sp>
        <p:nvSpPr>
          <p:cNvPr id="7" name="TextBox 6"/>
          <p:cNvSpPr txBox="1"/>
          <p:nvPr/>
        </p:nvSpPr>
        <p:spPr>
          <a:xfrm>
            <a:off x="731520" y="1097280"/>
            <a:ext cx="10881360" cy="365760"/>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500" b="1">
                <a:solidFill>
                  <a:srgbClr val="1A1A1A"/>
                </a:solidFill>
                <a:latin typeface="Microsoft YaHei"/>
              </a:rPr>
              <a:t>物理机实证（同一份 .mce 注入，Huawei 2288H V5 + HCE2）：</a:t>
            </a:r>
          </a:p>
        </p:txBody>
      </p:sp>
      <p:sp>
        <p:nvSpPr>
          <p:cNvPr id="8" name="Rectangle 7"/>
          <p:cNvSpPr/>
          <p:nvPr/>
        </p:nvSpPr>
        <p:spPr>
          <a:xfrm>
            <a:off x="731520" y="1517904"/>
            <a:ext cx="5285232" cy="1097280"/>
          </a:xfrm>
          <a:prstGeom prst="rect">
            <a:avLst/>
          </a:prstGeom>
          <a:solidFill>
            <a:srgbClr val="FBECEE"/>
          </a:solidFill>
          <a:ln w="16510">
            <a:solidFill>
              <a:srgbClr val="CF0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91056"/>
            <a:ext cx="5029200" cy="1005840"/>
          </a:xfrm>
          <a:prstGeom prst="rect">
            <a:avLst/>
          </a:prstGeom>
          <a:noFill/>
        </p:spPr>
        <p:txBody>
          <a:bodyPr wrap="square" anchor="t" lIns="50800" rIns="50800" tIns="25400" bIns="25400">
            <a:spAutoFit/>
          </a:bodyPr>
          <a:lstStyle/>
          <a:p>
            <a:pPr algn="l">
              <a:lnSpc>
                <a:spcPct val="110000"/>
              </a:lnSpc>
              <a:spcBef>
                <a:spcPts val="0"/>
              </a:spcBef>
              <a:spcAft>
                <a:spcPts val="300"/>
              </a:spcAft>
            </a:pPr>
            <a:r>
              <a:rPr sz="1400" b="1">
                <a:solidFill>
                  <a:srgbClr val="CF0A2C"/>
                </a:solidFill>
                <a:latin typeface="Microsoft YaHei"/>
              </a:rPr>
              <a:t>未加载模块</a:t>
            </a:r>
          </a:p>
          <a:p>
            <a:pPr algn="l">
              <a:lnSpc>
                <a:spcPct val="110000"/>
              </a:lnSpc>
              <a:spcBef>
                <a:spcPts val="0"/>
              </a:spcBef>
              <a:spcAft>
                <a:spcPts val="300"/>
              </a:spcAft>
            </a:pPr>
            <a:r>
              <a:rPr sz="1200" b="0">
                <a:solidFill>
                  <a:srgbClr val="1A1A1A"/>
                </a:solidFill>
                <a:latin typeface="Microsoft YaHei"/>
              </a:rPr>
              <a:t>mce_panic → kdump → 整机重启，全部 VM 掉线</a:t>
            </a:r>
          </a:p>
        </p:txBody>
      </p:sp>
      <p:sp>
        <p:nvSpPr>
          <p:cNvPr id="10" name="Rectangle 9"/>
          <p:cNvSpPr/>
          <p:nvPr/>
        </p:nvSpPr>
        <p:spPr>
          <a:xfrm>
            <a:off x="6172200" y="1517904"/>
            <a:ext cx="5285232" cy="1097280"/>
          </a:xfrm>
          <a:prstGeom prst="rect">
            <a:avLst/>
          </a:prstGeom>
          <a:solidFill>
            <a:srgbClr val="FFFFFF"/>
          </a:solidFill>
          <a:ln w="16510">
            <a:solidFill>
              <a:srgbClr val="CF0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591056"/>
            <a:ext cx="5029200" cy="1005840"/>
          </a:xfrm>
          <a:prstGeom prst="rect">
            <a:avLst/>
          </a:prstGeom>
          <a:noFill/>
        </p:spPr>
        <p:txBody>
          <a:bodyPr wrap="square" anchor="t" lIns="50800" rIns="50800" tIns="25400" bIns="25400">
            <a:spAutoFit/>
          </a:bodyPr>
          <a:lstStyle/>
          <a:p>
            <a:pPr algn="l">
              <a:lnSpc>
                <a:spcPct val="110000"/>
              </a:lnSpc>
              <a:spcBef>
                <a:spcPts val="0"/>
              </a:spcBef>
              <a:spcAft>
                <a:spcPts val="300"/>
              </a:spcAft>
            </a:pPr>
            <a:r>
              <a:rPr sz="1400" b="1">
                <a:solidFill>
                  <a:srgbClr val="A30822"/>
                </a:solidFill>
                <a:latin typeface="Microsoft YaHei"/>
              </a:rPr>
              <a:t>加载模块（inactive）</a:t>
            </a:r>
          </a:p>
          <a:p>
            <a:pPr algn="l">
              <a:lnSpc>
                <a:spcPct val="110000"/>
              </a:lnSpc>
              <a:spcBef>
                <a:spcPts val="0"/>
              </a:spcBef>
              <a:spcAft>
                <a:spcPts val="300"/>
              </a:spcAft>
            </a:pPr>
            <a:r>
              <a:rPr sz="1200" b="0">
                <a:solidFill>
                  <a:srgbClr val="1A1A1A"/>
                </a:solidFill>
                <a:latin typeface="Microsoft YaHei"/>
              </a:rPr>
              <a:t>故障核无下电隔离（迁 462 IRQ，CPU 仍 online），整机存活，taskset 绑核失败、该核 idle≈100%</a:t>
            </a:r>
          </a:p>
        </p:txBody>
      </p:sp>
      <p:sp>
        <p:nvSpPr>
          <p:cNvPr id="12" name="TextBox 11"/>
          <p:cNvSpPr txBox="1"/>
          <p:nvPr/>
        </p:nvSpPr>
        <p:spPr>
          <a:xfrm>
            <a:off x="731520" y="2743200"/>
            <a:ext cx="10881360" cy="365760"/>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500" b="1">
                <a:solidFill>
                  <a:srgbClr val="CF0A2C"/>
                </a:solidFill>
                <a:latin typeface="Microsoft YaHei"/>
              </a:rPr>
              <a:t>各技术问题 → 本方案如何解决 → 达到的技术效果：</a:t>
            </a:r>
          </a:p>
        </p:txBody>
      </p:sp>
      <p:sp>
        <p:nvSpPr>
          <p:cNvPr id="13" name="Rectangle 12"/>
          <p:cNvSpPr/>
          <p:nvPr/>
        </p:nvSpPr>
        <p:spPr>
          <a:xfrm>
            <a:off x="731520" y="3127248"/>
            <a:ext cx="3383280" cy="36576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3127248"/>
            <a:ext cx="3255264" cy="36576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100" b="1">
                <a:solidFill>
                  <a:srgbClr val="FFFFFF"/>
                </a:solidFill>
                <a:latin typeface="Microsoft YaHei"/>
              </a:rPr>
              <a:t>现有技术问题</a:t>
            </a:r>
          </a:p>
        </p:txBody>
      </p:sp>
      <p:sp>
        <p:nvSpPr>
          <p:cNvPr id="15" name="Rectangle 14"/>
          <p:cNvSpPr/>
          <p:nvPr/>
        </p:nvSpPr>
        <p:spPr>
          <a:xfrm>
            <a:off x="4114800" y="3127248"/>
            <a:ext cx="7342631" cy="36576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78808" y="3127248"/>
            <a:ext cx="7214615" cy="36576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100" b="1">
                <a:solidFill>
                  <a:srgbClr val="FFFFFF"/>
                </a:solidFill>
                <a:latin typeface="Microsoft YaHei"/>
              </a:rPr>
              <a:t>本方案的解决机制与达到的技术效果</a:t>
            </a:r>
          </a:p>
        </p:txBody>
      </p:sp>
      <p:sp>
        <p:nvSpPr>
          <p:cNvPr id="17" name="Rectangle 16"/>
          <p:cNvSpPr/>
          <p:nvPr/>
        </p:nvSpPr>
        <p:spPr>
          <a:xfrm>
            <a:off x="731520" y="3493008"/>
            <a:ext cx="3383280"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3493008"/>
            <a:ext cx="3255264"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单核故障致整机宕机、爆炸半径大</a:t>
            </a:r>
          </a:p>
        </p:txBody>
      </p:sp>
      <p:sp>
        <p:nvSpPr>
          <p:cNvPr id="19" name="Rectangle 18"/>
          <p:cNvSpPr/>
          <p:nvPr/>
        </p:nvSpPr>
        <p:spPr>
          <a:xfrm>
            <a:off x="4114800" y="3493008"/>
            <a:ext cx="7342631"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78808" y="3493008"/>
            <a:ext cx="7214615"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panic 抑制+接管+分级隔离：影响面从整机 100+ VM 收敛到单核绑定的 1 个 VM（配合延迟隔离协议可热迁零损失）</a:t>
            </a:r>
          </a:p>
        </p:txBody>
      </p:sp>
      <p:sp>
        <p:nvSpPr>
          <p:cNvPr id="21" name="Rectangle 20"/>
          <p:cNvSpPr/>
          <p:nvPr/>
        </p:nvSpPr>
        <p:spPr>
          <a:xfrm>
            <a:off x="731520" y="4023360"/>
            <a:ext cx="3383280" cy="5303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4023360"/>
            <a:ext cx="3255264"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需随内核版本定制、上线维护成本高</a:t>
            </a:r>
          </a:p>
        </p:txBody>
      </p:sp>
      <p:sp>
        <p:nvSpPr>
          <p:cNvPr id="23" name="Rectangle 22"/>
          <p:cNvSpPr/>
          <p:nvPr/>
        </p:nvSpPr>
        <p:spPr>
          <a:xfrm>
            <a:off x="4114800" y="4023360"/>
            <a:ext cx="7342631" cy="5303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78808" y="4023360"/>
            <a:ext cx="7214615"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纯外挂 ko、kprobe 取未导出符号、运行时探测厂商钩子：零源码改动、可灰度/热插拔/回滚，跨 upstream 与 vendor 内核</a:t>
            </a:r>
          </a:p>
        </p:txBody>
      </p:sp>
      <p:sp>
        <p:nvSpPr>
          <p:cNvPr id="25" name="Rectangle 24"/>
          <p:cNvSpPr/>
          <p:nvPr/>
        </p:nvSpPr>
        <p:spPr>
          <a:xfrm>
            <a:off x="731520" y="4553712"/>
            <a:ext cx="3383280"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4553712"/>
            <a:ext cx="3255264"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hotplug 下线在 vendor 内核死锁，隔离反致二次宕机</a:t>
            </a:r>
          </a:p>
        </p:txBody>
      </p:sp>
      <p:sp>
        <p:nvSpPr>
          <p:cNvPr id="27" name="Rectangle 26"/>
          <p:cNvSpPr/>
          <p:nvPr/>
        </p:nvSpPr>
        <p:spPr>
          <a:xfrm>
            <a:off x="4114800" y="4553712"/>
            <a:ext cx="7342631"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78808" y="4553712"/>
            <a:ext cx="7214615"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无下电隔离绕开整条 hotplug 死锁面，无需 livepatch 即可在生产现场安全隔离，避免隔离动作自身引入二次故障</a:t>
            </a:r>
          </a:p>
        </p:txBody>
      </p:sp>
      <p:sp>
        <p:nvSpPr>
          <p:cNvPr id="29" name="Rectangle 28"/>
          <p:cNvSpPr/>
          <p:nvPr/>
        </p:nvSpPr>
        <p:spPr>
          <a:xfrm>
            <a:off x="731520" y="5084064"/>
            <a:ext cx="3383280" cy="5303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 y="5084064"/>
            <a:ext cx="3255264"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一刀切隔离误伤健康核 / 共享 LLC 隔离无效</a:t>
            </a:r>
          </a:p>
        </p:txBody>
      </p:sp>
      <p:sp>
        <p:nvSpPr>
          <p:cNvPr id="31" name="Rectangle 30"/>
          <p:cNvSpPr/>
          <p:nvPr/>
        </p:nvSpPr>
        <p:spPr>
          <a:xfrm>
            <a:off x="4114800" y="5084064"/>
            <a:ext cx="7342631" cy="5303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78808" y="5084064"/>
            <a:ext cx="7214615"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按缓存拓扑分级：隔离与物理故障域对齐，最大化健康算力留存，降低误隔离率</a:t>
            </a:r>
          </a:p>
        </p:txBody>
      </p:sp>
      <p:sp>
        <p:nvSpPr>
          <p:cNvPr id="33" name="Rectangle 32"/>
          <p:cNvSpPr/>
          <p:nvPr/>
        </p:nvSpPr>
        <p:spPr>
          <a:xfrm>
            <a:off x="731520" y="5614416"/>
            <a:ext cx="3383280"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5528" y="5614416"/>
            <a:ext cx="3255264"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panic 抑制可能引入静默数据损坏</a:t>
            </a:r>
          </a:p>
        </p:txBody>
      </p:sp>
      <p:sp>
        <p:nvSpPr>
          <p:cNvPr id="35" name="Rectangle 34"/>
          <p:cNvSpPr/>
          <p:nvPr/>
        </p:nvSpPr>
        <p:spPr>
          <a:xfrm>
            <a:off x="4114800" y="5614416"/>
            <a:ext cx="7342631"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78808" y="5614416"/>
            <a:ext cx="7214615"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白名单落点甄别：能救的救成单 VM 损失，不能救的主动 kdump 保现场，杜绝静默损坏，使 panic 抑制生产可用</a:t>
            </a:r>
          </a:p>
        </p:txBody>
      </p:sp>
      <p:sp>
        <p:nvSpPr>
          <p:cNvPr id="37" name="Rectangle 36"/>
          <p:cNvSpPr/>
          <p:nvPr/>
        </p:nvSpPr>
        <p:spPr>
          <a:xfrm>
            <a:off x="731520" y="6144768"/>
            <a:ext cx="3383280" cy="5303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5528" y="6144768"/>
            <a:ext cx="3255264"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内存被动等 UCE 宕机、介质劣化无闭环</a:t>
            </a:r>
          </a:p>
        </p:txBody>
      </p:sp>
      <p:sp>
        <p:nvSpPr>
          <p:cNvPr id="39" name="Rectangle 38"/>
          <p:cNvSpPr/>
          <p:nvPr/>
        </p:nvSpPr>
        <p:spPr>
          <a:xfrm>
            <a:off x="4114800" y="6144768"/>
            <a:ext cx="7342631" cy="5303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78808" y="6144768"/>
            <a:ext cx="7214615" cy="5303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CE 前兆期零损失预隔离 + DIMM 介质级记账触发疏散/换件，故障处置前移、形成换件闭环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146304" cy="47548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
            <a:ext cx="10058400" cy="566928"/>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2400" b="1">
                <a:solidFill>
                  <a:srgbClr val="1A1A1A"/>
                </a:solidFill>
                <a:latin typeface="Microsoft YaHei"/>
              </a:rPr>
              <a:t>本 Idea 的取证方法</a:t>
            </a:r>
          </a:p>
        </p:txBody>
      </p:sp>
      <p:sp>
        <p:nvSpPr>
          <p:cNvPr id="5" name="Rectangle 4"/>
          <p:cNvSpPr/>
          <p:nvPr/>
        </p:nvSpPr>
        <p:spPr>
          <a:xfrm>
            <a:off x="731520" y="950976"/>
            <a:ext cx="10725912" cy="254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0" y="384048"/>
            <a:ext cx="1965960" cy="365760"/>
          </a:xfrm>
          <a:prstGeom prst="rect">
            <a:avLst/>
          </a:prstGeom>
          <a:noFill/>
        </p:spPr>
        <p:txBody>
          <a:bodyPr wrap="square" anchor="ctr" lIns="50800" rIns="50800" tIns="25400" bIns="25400">
            <a:spAutoFit/>
          </a:bodyPr>
          <a:lstStyle/>
          <a:p>
            <a:pPr algn="r">
              <a:lnSpc>
                <a:spcPct val="100000"/>
              </a:lnSpc>
              <a:spcBef>
                <a:spcPts val="0"/>
              </a:spcBef>
              <a:spcAft>
                <a:spcPts val="300"/>
              </a:spcAft>
            </a:pPr>
            <a:r>
              <a:rPr sz="1100" b="0">
                <a:solidFill>
                  <a:srgbClr val="595959"/>
                </a:solidFill>
                <a:latin typeface="Microsoft YaHei"/>
              </a:rPr>
              <a:t>专利 IDEA</a:t>
            </a:r>
          </a:p>
        </p:txBody>
      </p:sp>
      <p:sp>
        <p:nvSpPr>
          <p:cNvPr id="7" name="TextBox 6"/>
          <p:cNvSpPr txBox="1"/>
          <p:nvPr/>
        </p:nvSpPr>
        <p:spPr>
          <a:xfrm>
            <a:off x="731520" y="1024128"/>
            <a:ext cx="10725912" cy="310896"/>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200" b="0">
                <a:solidFill>
                  <a:srgbClr val="595959"/>
                </a:solidFill>
                <a:latin typeface="Microsoft YaHei"/>
              </a:rPr>
              <a:t>证明某产品/宿主机使用了本 idea 各技术保护点</a:t>
            </a:r>
          </a:p>
        </p:txBody>
      </p:sp>
      <p:sp>
        <p:nvSpPr>
          <p:cNvPr id="8" name="Rectangle 7"/>
          <p:cNvSpPr/>
          <p:nvPr/>
        </p:nvSpPr>
        <p:spPr>
          <a:xfrm>
            <a:off x="731520" y="1417320"/>
            <a:ext cx="2011680" cy="36576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417320"/>
            <a:ext cx="1883664" cy="36576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050" b="1">
                <a:solidFill>
                  <a:srgbClr val="FFFFFF"/>
                </a:solidFill>
                <a:latin typeface="Microsoft YaHei"/>
              </a:rPr>
              <a:t>保护点</a:t>
            </a:r>
          </a:p>
        </p:txBody>
      </p:sp>
      <p:sp>
        <p:nvSpPr>
          <p:cNvPr id="10" name="Rectangle 9"/>
          <p:cNvSpPr/>
          <p:nvPr/>
        </p:nvSpPr>
        <p:spPr>
          <a:xfrm>
            <a:off x="2743200" y="1417320"/>
            <a:ext cx="2743200" cy="36576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7208" y="1417320"/>
            <a:ext cx="2615184" cy="36576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050" b="1">
                <a:solidFill>
                  <a:srgbClr val="FFFFFF"/>
                </a:solidFill>
                <a:latin typeface="Microsoft YaHei"/>
              </a:rPr>
              <a:t>取证手段</a:t>
            </a:r>
          </a:p>
        </p:txBody>
      </p:sp>
      <p:sp>
        <p:nvSpPr>
          <p:cNvPr id="12" name="Rectangle 11"/>
          <p:cNvSpPr/>
          <p:nvPr/>
        </p:nvSpPr>
        <p:spPr>
          <a:xfrm>
            <a:off x="5486400" y="1417320"/>
            <a:ext cx="5971032" cy="36576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50408" y="1417320"/>
            <a:ext cx="5843016" cy="36576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050" b="1">
                <a:solidFill>
                  <a:srgbClr val="FFFFFF"/>
                </a:solidFill>
                <a:latin typeface="Microsoft YaHei"/>
              </a:rPr>
              <a:t>具体取证分析（如何证明）</a:t>
            </a:r>
          </a:p>
        </p:txBody>
      </p:sp>
      <p:sp>
        <p:nvSpPr>
          <p:cNvPr id="14" name="Rectangle 13"/>
          <p:cNvSpPr/>
          <p:nvPr/>
        </p:nvSpPr>
        <p:spPr>
          <a:xfrm>
            <a:off x="731520" y="1783080"/>
            <a:ext cx="2011680" cy="7589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1783080"/>
            <a:ext cx="188366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P1 panic 抑制+接管</a:t>
            </a:r>
          </a:p>
        </p:txBody>
      </p:sp>
      <p:sp>
        <p:nvSpPr>
          <p:cNvPr id="16" name="Rectangle 15"/>
          <p:cNvSpPr/>
          <p:nvPr/>
        </p:nvSpPr>
        <p:spPr>
          <a:xfrm>
            <a:off x="2743200" y="1783080"/>
            <a:ext cx="2743200" cy="7589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07208" y="1783080"/>
            <a:ext cx="261518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抓 dmesg/log + 反汇编 ko</a:t>
            </a:r>
          </a:p>
        </p:txBody>
      </p:sp>
      <p:sp>
        <p:nvSpPr>
          <p:cNvPr id="18" name="Rectangle 17"/>
          <p:cNvSpPr/>
          <p:nvPr/>
        </p:nvSpPr>
        <p:spPr>
          <a:xfrm>
            <a:off x="5486400" y="1783080"/>
            <a:ext cx="5971032" cy="7589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50408" y="1783080"/>
            <a:ext cx="5843016"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注入 UCE 后整机不 panic、dmesg 出现“Machine check events logged + cpuX online→isolating”特征序列；反汇编模块可见 kprobe 查找并写 mce_tolerant、注册 mce_decoder/panic notifier</a:t>
            </a:r>
          </a:p>
        </p:txBody>
      </p:sp>
      <p:sp>
        <p:nvSpPr>
          <p:cNvPr id="20" name="Rectangle 19"/>
          <p:cNvSpPr/>
          <p:nvPr/>
        </p:nvSpPr>
        <p:spPr>
          <a:xfrm>
            <a:off x="731520" y="2542032"/>
            <a:ext cx="2011680" cy="7589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2542032"/>
            <a:ext cx="188366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P2 无下电隔离</a:t>
            </a:r>
          </a:p>
        </p:txBody>
      </p:sp>
      <p:sp>
        <p:nvSpPr>
          <p:cNvPr id="22" name="Rectangle 21"/>
          <p:cNvSpPr/>
          <p:nvPr/>
        </p:nvSpPr>
        <p:spPr>
          <a:xfrm>
            <a:off x="2743200" y="2542032"/>
            <a:ext cx="2743200" cy="7589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07208" y="2542032"/>
            <a:ext cx="261518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行为测试 + log + sysfs</a:t>
            </a:r>
          </a:p>
        </p:txBody>
      </p:sp>
      <p:sp>
        <p:nvSpPr>
          <p:cNvPr id="24" name="Rectangle 23"/>
          <p:cNvSpPr/>
          <p:nvPr/>
        </p:nvSpPr>
        <p:spPr>
          <a:xfrm>
            <a:off x="5486400" y="2542032"/>
            <a:ext cx="5971032" cy="7589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50408" y="2542032"/>
            <a:ext cx="5843016"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dmesg 出现“inactive-isolated … migrated N IRQs; CPU stays online”；隔离后 cpuX online=1 但 taskset -c X 失败、top 该核 idle≈100%；反汇编可见 set_cpu_active 调用而非 cpu_down</a:t>
            </a:r>
          </a:p>
        </p:txBody>
      </p:sp>
      <p:sp>
        <p:nvSpPr>
          <p:cNvPr id="26" name="Rectangle 25"/>
          <p:cNvSpPr/>
          <p:nvPr/>
        </p:nvSpPr>
        <p:spPr>
          <a:xfrm>
            <a:off x="731520" y="3300984"/>
            <a:ext cx="2011680" cy="7589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3300984"/>
            <a:ext cx="188366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P3 缓存分级隔离</a:t>
            </a:r>
          </a:p>
        </p:txBody>
      </p:sp>
      <p:sp>
        <p:nvSpPr>
          <p:cNvPr id="28" name="Rectangle 27"/>
          <p:cNvSpPr/>
          <p:nvPr/>
        </p:nvSpPr>
        <p:spPr>
          <a:xfrm>
            <a:off x="2743200" y="3300984"/>
            <a:ext cx="2743200" cy="7589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07208" y="3300984"/>
            <a:ext cx="261518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对比注入测试</a:t>
            </a:r>
          </a:p>
        </p:txBody>
      </p:sp>
      <p:sp>
        <p:nvSpPr>
          <p:cNvPr id="30" name="Rectangle 29"/>
          <p:cNvSpPr/>
          <p:nvPr/>
        </p:nvSpPr>
        <p:spPr>
          <a:xfrm>
            <a:off x="5486400" y="3300984"/>
            <a:ext cx="5971032" cy="7589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50408" y="3300984"/>
            <a:ext cx="5843016"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注入 L1/L2 UCE → 该核被隔离上报；注入 L3/LLC UCE → 该核不隔离、仅 netlink 上报；sysfs /sys/kernel/cfi/isolate_on_l3_uce 存在</a:t>
            </a:r>
          </a:p>
        </p:txBody>
      </p:sp>
      <p:sp>
        <p:nvSpPr>
          <p:cNvPr id="32" name="Rectangle 31"/>
          <p:cNvSpPr/>
          <p:nvPr/>
        </p:nvSpPr>
        <p:spPr>
          <a:xfrm>
            <a:off x="731520" y="4059936"/>
            <a:ext cx="2011680" cy="7589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 y="4059936"/>
            <a:ext cx="188366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P4 落点甄别</a:t>
            </a:r>
          </a:p>
        </p:txBody>
      </p:sp>
      <p:sp>
        <p:nvSpPr>
          <p:cNvPr id="34" name="Rectangle 33"/>
          <p:cNvSpPr/>
          <p:nvPr/>
        </p:nvSpPr>
        <p:spPr>
          <a:xfrm>
            <a:off x="2743200" y="4059936"/>
            <a:ext cx="2743200" cy="7589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07208" y="4059936"/>
            <a:ext cx="261518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EINJ 硬注入 + log</a:t>
            </a:r>
          </a:p>
        </p:txBody>
      </p:sp>
      <p:sp>
        <p:nvSpPr>
          <p:cNvPr id="36" name="Rectangle 35"/>
          <p:cNvSpPr/>
          <p:nvPr/>
        </p:nvSpPr>
        <p:spPr>
          <a:xfrm>
            <a:off x="5486400" y="4059936"/>
            <a:ext cx="5971032" cy="7589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50408" y="4059936"/>
            <a:ext cx="5843016"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EINJ 注入 patrol-scrub UCE(SRAO) → 页 soft offline、不 panic、无进程被杀；注入内核数据无 fixup → 主动 kdump；/sys/kernel/cfi/mem/triage 存在</a:t>
            </a:r>
          </a:p>
        </p:txBody>
      </p:sp>
      <p:sp>
        <p:nvSpPr>
          <p:cNvPr id="38" name="Rectangle 37"/>
          <p:cNvSpPr/>
          <p:nvPr/>
        </p:nvSpPr>
        <p:spPr>
          <a:xfrm>
            <a:off x="731520" y="4818888"/>
            <a:ext cx="2011680" cy="7589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5528" y="4818888"/>
            <a:ext cx="188366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P5 延迟隔离协议</a:t>
            </a:r>
          </a:p>
        </p:txBody>
      </p:sp>
      <p:sp>
        <p:nvSpPr>
          <p:cNvPr id="40" name="Rectangle 39"/>
          <p:cNvSpPr/>
          <p:nvPr/>
        </p:nvSpPr>
        <p:spPr>
          <a:xfrm>
            <a:off x="2743200" y="4818888"/>
            <a:ext cx="2743200" cy="7589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07208" y="4818888"/>
            <a:ext cx="261518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netlink 抓包</a:t>
            </a:r>
          </a:p>
        </p:txBody>
      </p:sp>
      <p:sp>
        <p:nvSpPr>
          <p:cNvPr id="42" name="Rectangle 41"/>
          <p:cNvSpPr/>
          <p:nvPr/>
        </p:nvSpPr>
        <p:spPr>
          <a:xfrm>
            <a:off x="5486400" y="4818888"/>
            <a:ext cx="5971032" cy="7589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50408" y="4818888"/>
            <a:ext cx="5843016"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用 genetlink 监视器抓 family "CFI" 报文，可见 STATE_CHANGE(ISOLATING)→（U→K）ACK_ISOLATE→STATE_CHANGE(ISOLATED) 时序及 defer_timeout 兜底</a:t>
            </a:r>
          </a:p>
        </p:txBody>
      </p:sp>
      <p:sp>
        <p:nvSpPr>
          <p:cNvPr id="44" name="Rectangle 43"/>
          <p:cNvSpPr/>
          <p:nvPr/>
        </p:nvSpPr>
        <p:spPr>
          <a:xfrm>
            <a:off x="731520" y="5577840"/>
            <a:ext cx="2011680" cy="7589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5528" y="5577840"/>
            <a:ext cx="188366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1">
                <a:solidFill>
                  <a:srgbClr val="1A1A1A"/>
                </a:solidFill>
                <a:latin typeface="Microsoft YaHei"/>
              </a:rPr>
              <a:t>P6 跨核调度/双域框架</a:t>
            </a:r>
          </a:p>
        </p:txBody>
      </p:sp>
      <p:sp>
        <p:nvSpPr>
          <p:cNvPr id="46" name="Rectangle 45"/>
          <p:cNvSpPr/>
          <p:nvPr/>
        </p:nvSpPr>
        <p:spPr>
          <a:xfrm>
            <a:off x="2743200" y="5577840"/>
            <a:ext cx="2743200" cy="7589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07208" y="5577840"/>
            <a:ext cx="2615184"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sysfs/源码符号</a:t>
            </a:r>
          </a:p>
        </p:txBody>
      </p:sp>
      <p:sp>
        <p:nvSpPr>
          <p:cNvPr id="48" name="Rectangle 47"/>
          <p:cNvSpPr/>
          <p:nvPr/>
        </p:nvSpPr>
        <p:spPr>
          <a:xfrm>
            <a:off x="5486400" y="5577840"/>
            <a:ext cx="5971032" cy="758952"/>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50408" y="5577840"/>
            <a:ext cx="5843016" cy="75895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50" b="0">
                <a:solidFill>
                  <a:srgbClr val="1A1A1A"/>
                </a:solidFill>
                <a:latin typeface="Microsoft YaHei"/>
              </a:rPr>
              <a:t>/sys/devices/system/cpu/cpuX/cfi/ 与 /sys/kernel/cfi/mem/ 子树并存；模块符号表含 queue_work_on 跨核派发与 x86/arm64 双后端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146304" cy="47548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
            <a:ext cx="10058400" cy="566928"/>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2400" b="1">
                <a:solidFill>
                  <a:srgbClr val="1A1A1A"/>
                </a:solidFill>
                <a:latin typeface="Microsoft YaHei"/>
              </a:rPr>
              <a:t>在先公开的对比文件检索情况</a:t>
            </a:r>
          </a:p>
        </p:txBody>
      </p:sp>
      <p:sp>
        <p:nvSpPr>
          <p:cNvPr id="5" name="Rectangle 4"/>
          <p:cNvSpPr/>
          <p:nvPr/>
        </p:nvSpPr>
        <p:spPr>
          <a:xfrm>
            <a:off x="731520" y="950976"/>
            <a:ext cx="10725912" cy="254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0" y="384048"/>
            <a:ext cx="1965960" cy="365760"/>
          </a:xfrm>
          <a:prstGeom prst="rect">
            <a:avLst/>
          </a:prstGeom>
          <a:noFill/>
        </p:spPr>
        <p:txBody>
          <a:bodyPr wrap="square" anchor="ctr" lIns="50800" rIns="50800" tIns="25400" bIns="25400">
            <a:spAutoFit/>
          </a:bodyPr>
          <a:lstStyle/>
          <a:p>
            <a:pPr algn="r">
              <a:lnSpc>
                <a:spcPct val="100000"/>
              </a:lnSpc>
              <a:spcBef>
                <a:spcPts val="0"/>
              </a:spcBef>
              <a:spcAft>
                <a:spcPts val="300"/>
              </a:spcAft>
            </a:pPr>
            <a:r>
              <a:rPr sz="1100" b="0">
                <a:solidFill>
                  <a:srgbClr val="595959"/>
                </a:solidFill>
                <a:latin typeface="Microsoft YaHei"/>
              </a:rPr>
              <a:t>专利 IDEA</a:t>
            </a:r>
          </a:p>
        </p:txBody>
      </p:sp>
      <p:sp>
        <p:nvSpPr>
          <p:cNvPr id="7" name="Rectangle 6"/>
          <p:cNvSpPr/>
          <p:nvPr/>
        </p:nvSpPr>
        <p:spPr>
          <a:xfrm>
            <a:off x="731520" y="1188720"/>
            <a:ext cx="2651760" cy="384048"/>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188720"/>
            <a:ext cx="2523744" cy="384048"/>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000" b="1">
                <a:solidFill>
                  <a:srgbClr val="FFFFFF"/>
                </a:solidFill>
                <a:latin typeface="Microsoft YaHei"/>
              </a:rPr>
              <a:t>发明点</a:t>
            </a:r>
          </a:p>
        </p:txBody>
      </p:sp>
      <p:sp>
        <p:nvSpPr>
          <p:cNvPr id="9" name="Rectangle 8"/>
          <p:cNvSpPr/>
          <p:nvPr/>
        </p:nvSpPr>
        <p:spPr>
          <a:xfrm>
            <a:off x="3383280" y="1188720"/>
            <a:ext cx="4572000" cy="384048"/>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1188720"/>
            <a:ext cx="4443984" cy="384048"/>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000" b="1">
                <a:solidFill>
                  <a:srgbClr val="FFFFFF"/>
                </a:solidFill>
                <a:latin typeface="Microsoft YaHei"/>
              </a:rPr>
              <a:t>发明点与相关对比文件对比分析</a:t>
            </a:r>
          </a:p>
        </p:txBody>
      </p:sp>
      <p:sp>
        <p:nvSpPr>
          <p:cNvPr id="11" name="Rectangle 10"/>
          <p:cNvSpPr/>
          <p:nvPr/>
        </p:nvSpPr>
        <p:spPr>
          <a:xfrm>
            <a:off x="7955280" y="1188720"/>
            <a:ext cx="3502152" cy="384048"/>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19288" y="1188720"/>
            <a:ext cx="3374136" cy="384048"/>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000" b="1">
                <a:solidFill>
                  <a:srgbClr val="FFFFFF"/>
                </a:solidFill>
                <a:latin typeface="Microsoft YaHei"/>
              </a:rPr>
              <a:t>检索式（推荐语义检索）</a:t>
            </a:r>
          </a:p>
        </p:txBody>
      </p:sp>
      <p:sp>
        <p:nvSpPr>
          <p:cNvPr id="13" name="Rectangle 12"/>
          <p:cNvSpPr/>
          <p:nvPr/>
        </p:nvSpPr>
        <p:spPr>
          <a:xfrm>
            <a:off x="731520" y="1572768"/>
            <a:ext cx="2651760" cy="8961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1572768"/>
            <a:ext cx="2523744" cy="89611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1">
                <a:solidFill>
                  <a:srgbClr val="1A1A1A"/>
                </a:solidFill>
                <a:latin typeface="Microsoft YaHei"/>
              </a:rPr>
              <a:t>发明点1：外挂 ko 运行时 panic 抑制+接管</a:t>
            </a:r>
          </a:p>
        </p:txBody>
      </p:sp>
      <p:sp>
        <p:nvSpPr>
          <p:cNvPr id="15" name="Rectangle 14"/>
          <p:cNvSpPr/>
          <p:nvPr/>
        </p:nvSpPr>
        <p:spPr>
          <a:xfrm>
            <a:off x="3383280" y="1572768"/>
            <a:ext cx="4572000" cy="8961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47288" y="1572768"/>
            <a:ext cx="4443984" cy="89611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0">
                <a:solidFill>
                  <a:srgbClr val="1A1A1A"/>
                </a:solidFill>
                <a:latin typeface="Microsoft YaHei"/>
              </a:rPr>
              <a:t>US 11829265/11385974 公开“内核内置 handler 处理内核访问 guest 内存的 UCE 并通知 VMM”，未公开“以加载期 kprobe 改写 mce_tolerant 使致命 MCE 回流解码链、由外挂模块接管”这一不改源码特征</a:t>
            </a:r>
          </a:p>
        </p:txBody>
      </p:sp>
      <p:sp>
        <p:nvSpPr>
          <p:cNvPr id="17" name="Rectangle 16"/>
          <p:cNvSpPr/>
          <p:nvPr/>
        </p:nvSpPr>
        <p:spPr>
          <a:xfrm>
            <a:off x="7955280" y="1572768"/>
            <a:ext cx="3502152" cy="8961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19288" y="1572768"/>
            <a:ext cx="3374136" cy="896112"/>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0">
                <a:solidFill>
                  <a:srgbClr val="1A1A1A"/>
                </a:solidFill>
                <a:latin typeface="Microsoft YaHei"/>
              </a:rPr>
              <a:t>语义：可加载内核模块 运行时抑制机器检查异常致命 panic 并接管解码链处理硬件故障</a:t>
            </a:r>
          </a:p>
        </p:txBody>
      </p:sp>
      <p:sp>
        <p:nvSpPr>
          <p:cNvPr id="19" name="Rectangle 18"/>
          <p:cNvSpPr/>
          <p:nvPr/>
        </p:nvSpPr>
        <p:spPr>
          <a:xfrm>
            <a:off x="731520" y="2468880"/>
            <a:ext cx="2651760" cy="84124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2468880"/>
            <a:ext cx="252374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1">
                <a:solidFill>
                  <a:srgbClr val="1A1A1A"/>
                </a:solidFill>
                <a:latin typeface="Microsoft YaHei"/>
              </a:rPr>
              <a:t>发明点2：无下电隔离（绕开 hotplug）</a:t>
            </a:r>
          </a:p>
        </p:txBody>
      </p:sp>
      <p:sp>
        <p:nvSpPr>
          <p:cNvPr id="21" name="Rectangle 20"/>
          <p:cNvSpPr/>
          <p:nvPr/>
        </p:nvSpPr>
        <p:spPr>
          <a:xfrm>
            <a:off x="3383280" y="2468880"/>
            <a:ext cx="4572000" cy="84124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47288" y="2468880"/>
            <a:ext cx="444398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0">
                <a:solidFill>
                  <a:srgbClr val="1A1A1A"/>
                </a:solidFill>
                <a:latin typeface="Microsoft YaHei"/>
              </a:rPr>
              <a:t>US 12222830 等公开“关停/halt 故障 CPU 核”，未公开“清 cpu_active_mask + 迁中断、保持 CPU 物理在线但调度/中断不可见、规避热插拔死锁”的无下电隔离</a:t>
            </a:r>
          </a:p>
        </p:txBody>
      </p:sp>
      <p:sp>
        <p:nvSpPr>
          <p:cNvPr id="23" name="Rectangle 22"/>
          <p:cNvSpPr/>
          <p:nvPr/>
        </p:nvSpPr>
        <p:spPr>
          <a:xfrm>
            <a:off x="7955280" y="2468880"/>
            <a:ext cx="3502152" cy="84124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19288" y="2468880"/>
            <a:ext cx="3374136"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0">
                <a:solidFill>
                  <a:srgbClr val="1A1A1A"/>
                </a:solidFill>
                <a:latin typeface="Microsoft YaHei"/>
              </a:rPr>
              <a:t>语义：不下线 CPU 通过清除调度活动掩码与迁移中断隔离故障核 规避热插拔死锁</a:t>
            </a:r>
          </a:p>
        </p:txBody>
      </p:sp>
      <p:sp>
        <p:nvSpPr>
          <p:cNvPr id="25" name="Rectangle 24"/>
          <p:cNvSpPr/>
          <p:nvPr/>
        </p:nvSpPr>
        <p:spPr>
          <a:xfrm>
            <a:off x="731520" y="3310128"/>
            <a:ext cx="2651760" cy="64008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3310128"/>
            <a:ext cx="2523744" cy="640080"/>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1">
                <a:solidFill>
                  <a:srgbClr val="1A1A1A"/>
                </a:solidFill>
                <a:latin typeface="Microsoft YaHei"/>
              </a:rPr>
              <a:t>发明点3：缓存拓扑分级隔离</a:t>
            </a:r>
          </a:p>
        </p:txBody>
      </p:sp>
      <p:sp>
        <p:nvSpPr>
          <p:cNvPr id="27" name="Rectangle 26"/>
          <p:cNvSpPr/>
          <p:nvPr/>
        </p:nvSpPr>
        <p:spPr>
          <a:xfrm>
            <a:off x="3383280" y="3310128"/>
            <a:ext cx="4572000" cy="64008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47288" y="3310128"/>
            <a:ext cx="4443984" cy="640080"/>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0">
                <a:solidFill>
                  <a:srgbClr val="1A1A1A"/>
                </a:solidFill>
                <a:latin typeface="Microsoft YaHei"/>
              </a:rPr>
              <a:t>未检索到按 L1/L2(per-core) 与 L3/LLC(socket 共享) 差异化决定是否隔离物理核的对比文件</a:t>
            </a:r>
          </a:p>
        </p:txBody>
      </p:sp>
      <p:sp>
        <p:nvSpPr>
          <p:cNvPr id="29" name="Rectangle 28"/>
          <p:cNvSpPr/>
          <p:nvPr/>
        </p:nvSpPr>
        <p:spPr>
          <a:xfrm>
            <a:off x="7955280" y="3310128"/>
            <a:ext cx="3502152" cy="64008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19288" y="3310128"/>
            <a:ext cx="3374136" cy="640080"/>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0">
                <a:solidFill>
                  <a:srgbClr val="1A1A1A"/>
                </a:solidFill>
                <a:latin typeface="Microsoft YaHei"/>
              </a:rPr>
              <a:t>语义：按缓存层级与共享域差异化处置 CPU 不可纠正错误的隔离决策</a:t>
            </a:r>
          </a:p>
        </p:txBody>
      </p:sp>
      <p:sp>
        <p:nvSpPr>
          <p:cNvPr id="31" name="Rectangle 30"/>
          <p:cNvSpPr/>
          <p:nvPr/>
        </p:nvSpPr>
        <p:spPr>
          <a:xfrm>
            <a:off x="731520" y="3950208"/>
            <a:ext cx="2651760" cy="84124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8" y="3950208"/>
            <a:ext cx="252374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1">
                <a:solidFill>
                  <a:srgbClr val="1A1A1A"/>
                </a:solidFill>
                <a:latin typeface="Microsoft YaHei"/>
              </a:rPr>
              <a:t>发明点4：内核态 UCE 白名单落点甄别</a:t>
            </a:r>
          </a:p>
        </p:txBody>
      </p:sp>
      <p:sp>
        <p:nvSpPr>
          <p:cNvPr id="33" name="Rectangle 32"/>
          <p:cNvSpPr/>
          <p:nvPr/>
        </p:nvSpPr>
        <p:spPr>
          <a:xfrm>
            <a:off x="3383280" y="3950208"/>
            <a:ext cx="4572000" cy="84124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47288" y="3950208"/>
            <a:ext cx="4443984"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0">
                <a:solidFill>
                  <a:srgbClr val="1A1A1A"/>
                </a:solidFill>
                <a:latin typeface="Microsoft YaHei"/>
              </a:rPr>
              <a:t>US 11829265 仅判“是否内核访问 guest 内存”单一情形，未公开“页归属×消费方式×可恢复信号”二维白名单 + 不在白名单主动 kdump 兜底</a:t>
            </a:r>
          </a:p>
        </p:txBody>
      </p:sp>
      <p:sp>
        <p:nvSpPr>
          <p:cNvPr id="35" name="Rectangle 34"/>
          <p:cNvSpPr/>
          <p:nvPr/>
        </p:nvSpPr>
        <p:spPr>
          <a:xfrm>
            <a:off x="7955280" y="3950208"/>
            <a:ext cx="3502152" cy="84124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19288" y="3950208"/>
            <a:ext cx="3374136" cy="84124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000" b="0">
                <a:solidFill>
                  <a:srgbClr val="1A1A1A"/>
                </a:solidFill>
                <a:latin typeface="Microsoft YaHei"/>
              </a:rPr>
              <a:t>语义：内核态不可纠正内存错误按页归属与可恢复性分级处置 否则主动触发崩溃转储</a:t>
            </a:r>
          </a:p>
        </p:txBody>
      </p:sp>
      <p:sp>
        <p:nvSpPr>
          <p:cNvPr id="37" name="Rectangle 36"/>
          <p:cNvSpPr/>
          <p:nvPr/>
        </p:nvSpPr>
        <p:spPr>
          <a:xfrm>
            <a:off x="731520" y="5029200"/>
            <a:ext cx="10725912" cy="1325880"/>
          </a:xfrm>
          <a:prstGeom prst="rect">
            <a:avLst/>
          </a:prstGeom>
          <a:solidFill>
            <a:srgbClr val="FBECEE"/>
          </a:solidFill>
          <a:ln w="12700">
            <a:solidFill>
              <a:srgbClr val="CF0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102352"/>
            <a:ext cx="10424160" cy="1234440"/>
          </a:xfrm>
          <a:prstGeom prst="rect">
            <a:avLst/>
          </a:prstGeom>
          <a:noFill/>
        </p:spPr>
        <p:txBody>
          <a:bodyPr wrap="square" anchor="t" lIns="50800" rIns="50800" tIns="25400" bIns="25400">
            <a:spAutoFit/>
          </a:bodyPr>
          <a:lstStyle/>
          <a:p>
            <a:pPr algn="l">
              <a:lnSpc>
                <a:spcPct val="110000"/>
              </a:lnSpc>
              <a:spcBef>
                <a:spcPts val="0"/>
              </a:spcBef>
              <a:spcAft>
                <a:spcPts val="300"/>
              </a:spcAft>
            </a:pPr>
            <a:r>
              <a:rPr sz="1200" b="1">
                <a:solidFill>
                  <a:srgbClr val="CF0A2C"/>
                </a:solidFill>
                <a:latin typeface="Microsoft YaHei"/>
              </a:rPr>
              <a:t>检索工具说明（按公司规范执行）：</a:t>
            </a:r>
          </a:p>
          <a:p>
            <a:pPr algn="l">
              <a:lnSpc>
                <a:spcPct val="110000"/>
              </a:lnSpc>
              <a:spcBef>
                <a:spcPts val="0"/>
              </a:spcBef>
              <a:spcAft>
                <a:spcPts val="300"/>
              </a:spcAft>
            </a:pPr>
            <a:r>
              <a:rPr sz="1100" b="0">
                <a:solidFill>
                  <a:srgbClr val="1A1A1A"/>
                </a:solidFill>
                <a:latin typeface="Microsoft YaHei"/>
              </a:rPr>
              <a:t>· 关键技术优先用公司“专利洞察 AI 工具” ppm.huawei.com/home；非具体研发项目优先用“查思专利（内部版）” mylegal.huawei.com；亦可用 W3 登录“智慧芽”或“Incopat”检索。</a:t>
            </a:r>
          </a:p>
          <a:p>
            <a:pPr algn="l">
              <a:lnSpc>
                <a:spcPct val="110000"/>
              </a:lnSpc>
              <a:spcBef>
                <a:spcPts val="0"/>
              </a:spcBef>
              <a:spcAft>
                <a:spcPts val="300"/>
              </a:spcAft>
            </a:pPr>
            <a:r>
              <a:rPr sz="1100" b="1">
                <a:solidFill>
                  <a:srgbClr val="A30822"/>
                </a:solidFill>
                <a:latin typeface="Microsoft YaHei"/>
              </a:rPr>
              <a:t>· 注意：检索专利 idea 时不要使用非采购工具（Google Patents / ChatGPT / DeepSeek / 豆包等）。本页对比文件为候选参考，最终对比与检索式须在上述内部工具复核确认。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146304" cy="475488"/>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
            <a:ext cx="10058400" cy="566928"/>
          </a:xfrm>
          <a:prstGeom prst="rect">
            <a:avLst/>
          </a:prstGeom>
          <a:noFill/>
        </p:spPr>
        <p:txBody>
          <a:bodyPr wrap="square" anchor="ctr" lIns="50800" rIns="50800" tIns="25400" bIns="25400">
            <a:spAutoFit/>
          </a:bodyPr>
          <a:lstStyle/>
          <a:p>
            <a:pPr algn="l">
              <a:lnSpc>
                <a:spcPct val="100000"/>
              </a:lnSpc>
              <a:spcBef>
                <a:spcPts val="0"/>
              </a:spcBef>
              <a:spcAft>
                <a:spcPts val="300"/>
              </a:spcAft>
            </a:pPr>
            <a:r>
              <a:rPr sz="2400" b="1">
                <a:solidFill>
                  <a:srgbClr val="1A1A1A"/>
                </a:solidFill>
                <a:latin typeface="Microsoft YaHei"/>
              </a:rPr>
              <a:t>在先公开文件 — 非标准类文档</a:t>
            </a:r>
          </a:p>
        </p:txBody>
      </p:sp>
      <p:sp>
        <p:nvSpPr>
          <p:cNvPr id="5" name="Rectangle 4"/>
          <p:cNvSpPr/>
          <p:nvPr/>
        </p:nvSpPr>
        <p:spPr>
          <a:xfrm>
            <a:off x="731520" y="950976"/>
            <a:ext cx="10725912" cy="25400"/>
          </a:xfrm>
          <a:prstGeom prst="rect">
            <a:avLst/>
          </a:prstGeom>
          <a:solidFill>
            <a:srgbClr val="CF0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0" y="384048"/>
            <a:ext cx="1965960" cy="365760"/>
          </a:xfrm>
          <a:prstGeom prst="rect">
            <a:avLst/>
          </a:prstGeom>
          <a:noFill/>
        </p:spPr>
        <p:txBody>
          <a:bodyPr wrap="square" anchor="ctr" lIns="50800" rIns="50800" tIns="25400" bIns="25400">
            <a:spAutoFit/>
          </a:bodyPr>
          <a:lstStyle/>
          <a:p>
            <a:pPr algn="r">
              <a:lnSpc>
                <a:spcPct val="100000"/>
              </a:lnSpc>
              <a:spcBef>
                <a:spcPts val="0"/>
              </a:spcBef>
              <a:spcAft>
                <a:spcPts val="300"/>
              </a:spcAft>
            </a:pPr>
            <a:r>
              <a:rPr sz="1100" b="0">
                <a:solidFill>
                  <a:srgbClr val="595959"/>
                </a:solidFill>
                <a:latin typeface="Microsoft YaHei"/>
              </a:rPr>
              <a:t>专利 IDEA</a:t>
            </a:r>
          </a:p>
        </p:txBody>
      </p:sp>
      <p:sp>
        <p:nvSpPr>
          <p:cNvPr id="7" name="TextBox 6"/>
          <p:cNvSpPr txBox="1"/>
          <p:nvPr/>
        </p:nvSpPr>
        <p:spPr>
          <a:xfrm>
            <a:off x="731520" y="1024128"/>
            <a:ext cx="10725912" cy="310896"/>
          </a:xfrm>
          <a:prstGeom prst="rect">
            <a:avLst/>
          </a:prstGeom>
          <a:noFill/>
        </p:spPr>
        <p:txBody>
          <a:bodyPr wrap="square" anchor="t" lIns="50800" rIns="50800" tIns="25400" bIns="25400">
            <a:spAutoFit/>
          </a:bodyPr>
          <a:lstStyle/>
          <a:p>
            <a:pPr algn="l">
              <a:lnSpc>
                <a:spcPct val="100000"/>
              </a:lnSpc>
              <a:spcBef>
                <a:spcPts val="0"/>
              </a:spcBef>
              <a:spcAft>
                <a:spcPts val="300"/>
              </a:spcAft>
            </a:pPr>
            <a:r>
              <a:rPr sz="1200" b="0">
                <a:solidFill>
                  <a:srgbClr val="595959"/>
                </a:solidFill>
                <a:latin typeface="Microsoft YaHei"/>
              </a:rPr>
              <a:t>发明人认为最接近本发明方案的在先公开非标准类文档（候选，编号/日期以内部工具核实为准）</a:t>
            </a:r>
          </a:p>
        </p:txBody>
      </p:sp>
      <p:sp>
        <p:nvSpPr>
          <p:cNvPr id="8" name="Rectangle 7"/>
          <p:cNvSpPr/>
          <p:nvPr/>
        </p:nvSpPr>
        <p:spPr>
          <a:xfrm>
            <a:off x="731520" y="1463040"/>
            <a:ext cx="914400" cy="41148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463040"/>
            <a:ext cx="786384" cy="41148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100" b="1">
                <a:solidFill>
                  <a:srgbClr val="FFFFFF"/>
                </a:solidFill>
                <a:latin typeface="Microsoft YaHei"/>
              </a:rPr>
              <a:t>序号</a:t>
            </a:r>
          </a:p>
        </p:txBody>
      </p:sp>
      <p:sp>
        <p:nvSpPr>
          <p:cNvPr id="10" name="Rectangle 9"/>
          <p:cNvSpPr/>
          <p:nvPr/>
        </p:nvSpPr>
        <p:spPr>
          <a:xfrm>
            <a:off x="1645920" y="1463040"/>
            <a:ext cx="4206240" cy="41148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9928" y="1463040"/>
            <a:ext cx="4078224" cy="41148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100" b="1">
                <a:solidFill>
                  <a:srgbClr val="FFFFFF"/>
                </a:solidFill>
                <a:latin typeface="Microsoft YaHei"/>
              </a:rPr>
              <a:t>专利公开号 / 文档名称</a:t>
            </a:r>
          </a:p>
        </p:txBody>
      </p:sp>
      <p:sp>
        <p:nvSpPr>
          <p:cNvPr id="12" name="Rectangle 11"/>
          <p:cNvSpPr/>
          <p:nvPr/>
        </p:nvSpPr>
        <p:spPr>
          <a:xfrm>
            <a:off x="5852160" y="1463040"/>
            <a:ext cx="2286000" cy="41148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16168" y="1463040"/>
            <a:ext cx="2157984" cy="41148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100" b="1">
                <a:solidFill>
                  <a:srgbClr val="FFFFFF"/>
                </a:solidFill>
                <a:latin typeface="Microsoft YaHei"/>
              </a:rPr>
              <a:t>公开日期</a:t>
            </a:r>
          </a:p>
        </p:txBody>
      </p:sp>
      <p:sp>
        <p:nvSpPr>
          <p:cNvPr id="14" name="Rectangle 13"/>
          <p:cNvSpPr/>
          <p:nvPr/>
        </p:nvSpPr>
        <p:spPr>
          <a:xfrm>
            <a:off x="8138160" y="1463040"/>
            <a:ext cx="3319272" cy="411480"/>
          </a:xfrm>
          <a:prstGeom prst="rect">
            <a:avLst/>
          </a:prstGeom>
          <a:solidFill>
            <a:srgbClr val="CF0A2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2168" y="1463040"/>
            <a:ext cx="3191256" cy="411480"/>
          </a:xfrm>
          <a:prstGeom prst="rect">
            <a:avLst/>
          </a:prstGeom>
          <a:noFill/>
        </p:spPr>
        <p:txBody>
          <a:bodyPr wrap="square" anchor="ctr" lIns="50800" rIns="50800" tIns="25400" bIns="25400">
            <a:spAutoFit/>
          </a:bodyPr>
          <a:lstStyle/>
          <a:p>
            <a:pPr algn="ctr">
              <a:lnSpc>
                <a:spcPct val="105000"/>
              </a:lnSpc>
              <a:spcBef>
                <a:spcPts val="0"/>
              </a:spcBef>
              <a:spcAft>
                <a:spcPts val="300"/>
              </a:spcAft>
            </a:pPr>
            <a:r>
              <a:rPr sz="1100" b="1">
                <a:solidFill>
                  <a:srgbClr val="FFFFFF"/>
                </a:solidFill>
                <a:latin typeface="Microsoft YaHei"/>
              </a:rPr>
              <a:t>文档来源</a:t>
            </a:r>
          </a:p>
        </p:txBody>
      </p:sp>
      <p:sp>
        <p:nvSpPr>
          <p:cNvPr id="16" name="Rectangle 15"/>
          <p:cNvSpPr/>
          <p:nvPr/>
        </p:nvSpPr>
        <p:spPr>
          <a:xfrm>
            <a:off x="731520" y="1874520"/>
            <a:ext cx="914400" cy="7498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1874520"/>
            <a:ext cx="78638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1</a:t>
            </a:r>
          </a:p>
        </p:txBody>
      </p:sp>
      <p:sp>
        <p:nvSpPr>
          <p:cNvPr id="18" name="Rectangle 17"/>
          <p:cNvSpPr/>
          <p:nvPr/>
        </p:nvSpPr>
        <p:spPr>
          <a:xfrm>
            <a:off x="1645920" y="1874520"/>
            <a:ext cx="4206240" cy="7498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9928" y="1874520"/>
            <a:ext cx="407822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US 11829265 B2  Uncorrectable memory error recovery for virtual machine hosts</a:t>
            </a:r>
          </a:p>
        </p:txBody>
      </p:sp>
      <p:sp>
        <p:nvSpPr>
          <p:cNvPr id="20" name="Rectangle 19"/>
          <p:cNvSpPr/>
          <p:nvPr/>
        </p:nvSpPr>
        <p:spPr>
          <a:xfrm>
            <a:off x="5852160" y="1874520"/>
            <a:ext cx="2286000" cy="7498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16168" y="1874520"/>
            <a:ext cx="215798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约 2023（待核实）</a:t>
            </a:r>
          </a:p>
        </p:txBody>
      </p:sp>
      <p:sp>
        <p:nvSpPr>
          <p:cNvPr id="22" name="Rectangle 21"/>
          <p:cNvSpPr/>
          <p:nvPr/>
        </p:nvSpPr>
        <p:spPr>
          <a:xfrm>
            <a:off x="8138160" y="1874520"/>
            <a:ext cx="3319272" cy="7498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2168" y="1874520"/>
            <a:ext cx="3191256"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USPTO 公开公告</a:t>
            </a:r>
          </a:p>
        </p:txBody>
      </p:sp>
      <p:sp>
        <p:nvSpPr>
          <p:cNvPr id="24" name="Rectangle 23"/>
          <p:cNvSpPr/>
          <p:nvPr/>
        </p:nvSpPr>
        <p:spPr>
          <a:xfrm>
            <a:off x="731520" y="2624328"/>
            <a:ext cx="914400"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2624328"/>
            <a:ext cx="78638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2</a:t>
            </a:r>
          </a:p>
        </p:txBody>
      </p:sp>
      <p:sp>
        <p:nvSpPr>
          <p:cNvPr id="26" name="Rectangle 25"/>
          <p:cNvSpPr/>
          <p:nvPr/>
        </p:nvSpPr>
        <p:spPr>
          <a:xfrm>
            <a:off x="1645920" y="2624328"/>
            <a:ext cx="4206240"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09928" y="2624328"/>
            <a:ext cx="407822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US 11385974 B1  Uncorrectable memory error recovery for virtual machine hosts</a:t>
            </a:r>
          </a:p>
        </p:txBody>
      </p:sp>
      <p:sp>
        <p:nvSpPr>
          <p:cNvPr id="28" name="Rectangle 27"/>
          <p:cNvSpPr/>
          <p:nvPr/>
        </p:nvSpPr>
        <p:spPr>
          <a:xfrm>
            <a:off x="5852160" y="2624328"/>
            <a:ext cx="2286000"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16168" y="2624328"/>
            <a:ext cx="215798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约 2022（待核实）</a:t>
            </a:r>
          </a:p>
        </p:txBody>
      </p:sp>
      <p:sp>
        <p:nvSpPr>
          <p:cNvPr id="30" name="Rectangle 29"/>
          <p:cNvSpPr/>
          <p:nvPr/>
        </p:nvSpPr>
        <p:spPr>
          <a:xfrm>
            <a:off x="8138160" y="2624328"/>
            <a:ext cx="3319272"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02168" y="2624328"/>
            <a:ext cx="3191256"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USPTO 公开公告</a:t>
            </a:r>
          </a:p>
        </p:txBody>
      </p:sp>
      <p:sp>
        <p:nvSpPr>
          <p:cNvPr id="32" name="Rectangle 31"/>
          <p:cNvSpPr/>
          <p:nvPr/>
        </p:nvSpPr>
        <p:spPr>
          <a:xfrm>
            <a:off x="731520" y="3374136"/>
            <a:ext cx="914400" cy="7498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 y="3374136"/>
            <a:ext cx="78638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3</a:t>
            </a:r>
          </a:p>
        </p:txBody>
      </p:sp>
      <p:sp>
        <p:nvSpPr>
          <p:cNvPr id="34" name="Rectangle 33"/>
          <p:cNvSpPr/>
          <p:nvPr/>
        </p:nvSpPr>
        <p:spPr>
          <a:xfrm>
            <a:off x="1645920" y="3374136"/>
            <a:ext cx="4206240" cy="7498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09928" y="3374136"/>
            <a:ext cx="407822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US 12222830 / 11847036 / 11531607  Fault isolation and recovery of CPU cores (AMP)</a:t>
            </a:r>
          </a:p>
        </p:txBody>
      </p:sp>
      <p:sp>
        <p:nvSpPr>
          <p:cNvPr id="36" name="Rectangle 35"/>
          <p:cNvSpPr/>
          <p:nvPr/>
        </p:nvSpPr>
        <p:spPr>
          <a:xfrm>
            <a:off x="5852160" y="3374136"/>
            <a:ext cx="2286000" cy="7498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16168" y="3374136"/>
            <a:ext cx="215798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约 2022–2025（待核实）</a:t>
            </a:r>
          </a:p>
        </p:txBody>
      </p:sp>
      <p:sp>
        <p:nvSpPr>
          <p:cNvPr id="38" name="Rectangle 37"/>
          <p:cNvSpPr/>
          <p:nvPr/>
        </p:nvSpPr>
        <p:spPr>
          <a:xfrm>
            <a:off x="8138160" y="3374136"/>
            <a:ext cx="3319272" cy="7498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02168" y="3374136"/>
            <a:ext cx="3191256"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USPTO 公开公告</a:t>
            </a:r>
          </a:p>
        </p:txBody>
      </p:sp>
      <p:sp>
        <p:nvSpPr>
          <p:cNvPr id="40" name="Rectangle 39"/>
          <p:cNvSpPr/>
          <p:nvPr/>
        </p:nvSpPr>
        <p:spPr>
          <a:xfrm>
            <a:off x="731520" y="4123944"/>
            <a:ext cx="914400"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5528" y="4123944"/>
            <a:ext cx="78638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1">
                <a:solidFill>
                  <a:srgbClr val="1A1A1A"/>
                </a:solidFill>
                <a:latin typeface="Microsoft YaHei"/>
              </a:rPr>
              <a:t>4</a:t>
            </a:r>
          </a:p>
        </p:txBody>
      </p:sp>
      <p:sp>
        <p:nvSpPr>
          <p:cNvPr id="42" name="Rectangle 41"/>
          <p:cNvSpPr/>
          <p:nvPr/>
        </p:nvSpPr>
        <p:spPr>
          <a:xfrm>
            <a:off x="1645920" y="4123944"/>
            <a:ext cx="4206240"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709928" y="4123944"/>
            <a:ext cx="407822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CN 106203082 A  基于虚拟化硬件特性高效隔离内核模块的系统和方法</a:t>
            </a:r>
          </a:p>
        </p:txBody>
      </p:sp>
      <p:sp>
        <p:nvSpPr>
          <p:cNvPr id="44" name="Rectangle 43"/>
          <p:cNvSpPr/>
          <p:nvPr/>
        </p:nvSpPr>
        <p:spPr>
          <a:xfrm>
            <a:off x="5852160" y="4123944"/>
            <a:ext cx="2286000"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16168" y="4123944"/>
            <a:ext cx="2157984"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约 2016（待核实）</a:t>
            </a:r>
          </a:p>
        </p:txBody>
      </p:sp>
      <p:sp>
        <p:nvSpPr>
          <p:cNvPr id="46" name="Rectangle 45"/>
          <p:cNvSpPr/>
          <p:nvPr/>
        </p:nvSpPr>
        <p:spPr>
          <a:xfrm>
            <a:off x="8138160" y="4123944"/>
            <a:ext cx="3319272" cy="749808"/>
          </a:xfrm>
          <a:prstGeom prst="rect">
            <a:avLst/>
          </a:prstGeom>
          <a:solidFill>
            <a:srgbClr val="F4F4F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02168" y="4123944"/>
            <a:ext cx="3191256" cy="749808"/>
          </a:xfrm>
          <a:prstGeom prst="rect">
            <a:avLst/>
          </a:prstGeom>
          <a:noFill/>
        </p:spPr>
        <p:txBody>
          <a:bodyPr wrap="square" anchor="ctr" lIns="50800" rIns="50800" tIns="25400" bIns="25400">
            <a:spAutoFit/>
          </a:bodyPr>
          <a:lstStyle/>
          <a:p>
            <a:pPr algn="l">
              <a:lnSpc>
                <a:spcPct val="105000"/>
              </a:lnSpc>
              <a:spcBef>
                <a:spcPts val="0"/>
              </a:spcBef>
              <a:spcAft>
                <a:spcPts val="300"/>
              </a:spcAft>
            </a:pPr>
            <a:r>
              <a:rPr sz="1100" b="0">
                <a:solidFill>
                  <a:srgbClr val="1A1A1A"/>
                </a:solidFill>
                <a:latin typeface="Microsoft YaHei"/>
              </a:rPr>
              <a:t>CNIPA 公开公告</a:t>
            </a:r>
          </a:p>
        </p:txBody>
      </p:sp>
      <p:sp>
        <p:nvSpPr>
          <p:cNvPr id="48" name="TextBox 47"/>
          <p:cNvSpPr txBox="1"/>
          <p:nvPr/>
        </p:nvSpPr>
        <p:spPr>
          <a:xfrm>
            <a:off x="731520" y="5074920"/>
            <a:ext cx="10725912" cy="1097280"/>
          </a:xfrm>
          <a:prstGeom prst="rect">
            <a:avLst/>
          </a:prstGeom>
          <a:noFill/>
        </p:spPr>
        <p:txBody>
          <a:bodyPr wrap="square" anchor="t" lIns="50800" rIns="50800" tIns="25400" bIns="25400">
            <a:spAutoFit/>
          </a:bodyPr>
          <a:lstStyle/>
          <a:p>
            <a:pPr algn="l">
              <a:lnSpc>
                <a:spcPct val="115000"/>
              </a:lnSpc>
              <a:spcBef>
                <a:spcPts val="0"/>
              </a:spcBef>
              <a:spcAft>
                <a:spcPts val="300"/>
              </a:spcAft>
            </a:pPr>
            <a:r>
              <a:rPr sz="1200" b="1">
                <a:solidFill>
                  <a:srgbClr val="CF0A2C"/>
                </a:solidFill>
                <a:latin typeface="Microsoft YaHei"/>
              </a:rPr>
              <a:t>说明：</a:t>
            </a:r>
            <a:r>
              <a:rPr sz="1150" b="0">
                <a:solidFill>
                  <a:srgbClr val="1A1A1A"/>
                </a:solidFill>
                <a:latin typeface="Microsoft YaHei"/>
              </a:rPr>
              <a:t>上表公开号与公开日期为基于公开信息整理的候选对比文件，提交前请在华为内部专利工具（专利洞察 AI / 查思 / 智慧芽 / Incopat）复核确认准确的公开号与公开日期；本 idea 不涉及标准/提案，故省略“标准类文档”页。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